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27" d="100"/>
          <a:sy n="127" d="100"/>
        </p:scale>
        <p:origin x="178" y="8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922060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I'm Ishika Ishwar Geed, and this is my CA3 Business Intelligence case study. My project is called Renewable Energy Intelligence. I built an interactive dashboard in R that looks at India's solar and wind generation against electricity demand, hour by hour. In the next few minutes I'll explain the problem, how I built the dashboard, what it shows, and what a planner could do with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Solar and wind are cheap and clean, but they are variable. Solar only works in daylight, and demand has its own daily and seasonal pattern. So a planner can't just look at generation, or just at demand. They have to look at both together. The question my project answers is on the bottom of the slide: how do solar and wind compare with national demand over the day and across seasons, and how much demand is left for other sources to meet. Next, I'll show the objectives and scope.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set five objectives. First, summarise solar, wind and total renewable generation against demand. Second, find the hourly and seasonal patterns. Third, measure residual demand, which is demand minus solar and wind, along with how fast it changes and what share renewables cover. Fourth, forecast daily demand and check it with a holdout test. And fifth, put it all in an interactive Shiny dashboard. On the right is the scope. The data is national, for all of India. The dashboard covers January 2024 to June 2025, but the screenshots I use today show one filtered window: weekends between 25 May and 24 June 2025. So my numbers describe that slice, not the whole year.</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comes from a Mendeley dataset by Mukherjee, Kalita and Kumar, based on Grid-India records. It gives national demand, solar and wind at one-hour intervals. The table lists the fields in my dashboard's Data Explorer. The first three are the raw measurements. The rest I calculate: total renewable, renewable share of demand, residual demand, and the hour-to-hour change, which I call the ramp. In R, I load the records, fix the timestamps and units, calculate these fields, and label each hour with season and weekday or weekend for the filters. I've left a placeholder for the exact record count and cleaning steps, which I will confirm from my script. The full citation is at the bottom.</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workflow, from data acquisition at the left to business insights at the right. For technology, the dashboard clearly uses R with Shiny for the interactive app, plotly for the interactive charts, and DT for the tables. The layout, with cards and a collapsible sidebar, is consistent with bslib. The yellow box is a reminder for me to confirm the other packages from my code, so I'm not claiming anything I can't show. At the bottom are the formulas. The most important idea: residual demand is demand minus solar and wind. It does not mean a blackout or shortage, because thermal, hydro, nuclear, storage and imports fill that gap.</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Overview tab. At the top are eight KPI cards: total clean energy, solar, wind, total demand, average demand, the highest renewable share, the biggest one-hour ramp, and how many hours renewables supplied less than five percent. On the left is the filter panel: a date range, quick presets, season checkboxes and weekday or weekend. These filters apply across the tabs. The top bar has seven tabs, from Overview to Data Explorer, where users can search the hourly records and download the filtered data as a CSV. All numbers on the next slides come from this filtered view: weekends from 25 May to 24 June 2025.</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Generation Analysis tab. The top-left chart shows the average solar and wind output for each hour of the day. Solar looks like a bell: nothing at night, a peak around noon to one o'clock. Wind is there all day, so it helps cover the night. The strongest solar hour in my window was 8 June at 12:00, at 61.71 gigawatts, when demand was 211.55. Dividing the two, solar alone supplied about 29 percent, which is my own calculation. One caution: the seasonal bar chart adds up energy, and this window has only two weekend days in May but seven in June. So the June bars are taller mainly because there are more days, not because June is stronger. Next, the main findings.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findings. One: solar and wind together supplied 17.65 percent of demand, and wind supplied slightly more energy than solar. The most they reached in one hour was about 37 percent, and never below 5 percent. So more than 82 percent came from other sources. Two: solar peaked at 61.71 gigawatts but is near zero overnight. Three: residual demand rose by up to 29.11 gigawatts in a single hour. That is what flexible power plants and storage need to handle. Four: my demand forecast had a holdout error of 6.16 percent on average, but I haven't compared it to a simple baseline, so I treat it as indicative. All of these are descriptive results for nine weekend days. They show patterns, not causes.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recommendations come straight from the findings, and I want to be clear they are proposals, not results. One: evaluate storage that moves midday solar into the evening, because solar vanishes at sunset and residual demand ramps up. To size it properly you would need dispatch modelling and cost data. Two: plan ramping capability for the evening window. Three: explore time-of-day load shifting, since solar is concentrated around midday. This needs data on how much load is flexible and on actual tariffs. Four: strengthen forecasting, adding weather and plant-level data and comparing against a simple baseline. I haven't measured any savings or efficiency gains, so I'm not claiming any.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limitations. My screenshots cover only nine weekend days, so I can't generalise to the whole year. The data is national and hourly, so it hides regional differences and faster changes within the hour. I don't have weather, irradiance, capacity or plant data, so I cannot measure solar panel losses or efficiency, and I don't claim to. Also, residual demand isn't a shortage. And my forecast used one holdout test and no baseline. For future work, I would add weather data, regional and plant-level data, simulate battery dispatch, forecast solar and wind, and check that the text in my Business Insights tab updates with the filters.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The problem was that planners need to see variable solar and wind against demand. My solution is an R Shiny dashboard built on hourly national data from Grid-India. In the window I analysed, renewables supplied 17.65 percent of demand, solar peaked at 61.71 gigawatts, and residual demand rose by up to 29.11 gigawatts in an hour. The dashboard connects KPIs, distributions, a forecast and the raw data under shared filters, and it is careful not to call residual demand a deficit. My closing message: this is descriptive evidence that points planners to the right questions, evening ramps, storage and better forecasting, and the next step is to repeat it on the full dataset with weather data.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my main sources: the Mendeley dataset, and the official documentation for R, Shiny, bslib, plotly and DT. Screenshots in this presentation are from my own application. Thank you for listening. I'm happy to take questions. If I'm asked about something I haven't verified, such as the exact forecasting model or cleaning steps, I will check my R script rather than guess.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F4D2B"/>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6F8F3"/>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rtlCol="0"/>
          <a:lstStyle>
            <a:lvl1pPr marL="0" indent="0" algn="l">
              <a:buNone/>
              <a:defRPr lang="en-US" sz="2600" b="1" dirty="0">
                <a:solidFill>
                  <a:srgbClr val="1F4D2B"/>
                </a:solidFill>
                <a:latin typeface="Georgia" pitchFamily="34" charset="0"/>
                <a:ea typeface="Georgia" pitchFamily="34" charset="-122"/>
                <a:cs typeface="Georgia" pitchFamily="34" charset="-120"/>
              </a:defRPr>
            </a:lvl1pPr>
          </a:lstStyle>
          <a:p>
            <a:pPr marL="0" indent="0" algn="l">
              <a:buNone/>
            </a:pPr>
            <a:endParaRPr lang="en-US" sz="2600" dirty="0"/>
          </a:p>
        </p:txBody>
      </p:sp>
      <p:sp>
        <p:nvSpPr>
          <p:cNvPr id="3" name="Text 0"/>
          <p:cNvSpPr/>
          <p:nvPr/>
        </p:nvSpPr>
        <p:spPr>
          <a:xfrm>
            <a:off x="457200" y="4818888"/>
            <a:ext cx="5486400" cy="228600"/>
          </a:xfrm>
          <a:prstGeom prst="rect">
            <a:avLst/>
          </a:prstGeom>
          <a:noFill/>
          <a:ln/>
        </p:spPr>
        <p:txBody>
          <a:bodyPr wrap="square" lIns="0" tIns="0" rIns="0" bIns="0" rtlCol="0" anchor="ctr"/>
          <a:lstStyle/>
          <a:p>
            <a:pPr marL="0" indent="0">
              <a:buNone/>
            </a:pPr>
            <a:r>
              <a:rPr lang="en-US" sz="900" dirty="0">
                <a:solidFill>
                  <a:srgbClr val="5B6B60"/>
                </a:solidFill>
                <a:latin typeface="Calibri" pitchFamily="34" charset="0"/>
                <a:ea typeface="Calibri" pitchFamily="34" charset="-122"/>
                <a:cs typeface="Calibri" pitchFamily="34" charset="-120"/>
              </a:rPr>
              <a:t>CA3 · Business Intelligence · Ishika Ishwar Geed</a:t>
            </a:r>
            <a:endParaRPr lang="en-US" sz="900" dirty="0"/>
          </a:p>
        </p:txBody>
      </p:sp>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818888"/>
            <a:ext cx="457200" cy="228600"/>
          </a:xfrm>
          <a:prstGeom prst="rect">
            <a:avLst/>
          </a:prstGeom>
          <a:extLst>
            <a:ext uri="{C572A759-6A51-4108-AA02-DFA0A04FC94B}">
              <ma14:wrappingTextBoxFlag xmlns="" xmlns:ma14="http://schemas.microsoft.com/office/mac/drawingml/2011/main" val="0"/>
            </a:ext>
          </a:extLst>
        </p:spPr>
        <p:txBody>
          <a:bodyPr/>
          <a:lstStyle>
            <a:lvl1pPr>
              <a:defRPr sz="900">
                <a:solidFill>
                  <a:srgbClr val="5B6B60"/>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un halo"/>
          <p:cNvSpPr/>
          <p:nvPr/>
        </p:nvSpPr>
        <p:spPr>
          <a:xfrm>
            <a:off x="6903720" y="-502920"/>
            <a:ext cx="2286000" cy="2286000"/>
          </a:xfrm>
          <a:prstGeom prst="ellipse">
            <a:avLst/>
          </a:prstGeom>
          <a:solidFill>
            <a:srgbClr val="F2B705">
              <a:alpha val="20000"/>
            </a:srgbClr>
          </a:solidFill>
          <a:ln/>
        </p:spPr>
      </p:sp>
      <p:sp>
        <p:nvSpPr>
          <p:cNvPr id="3" name="Sun"/>
          <p:cNvSpPr/>
          <p:nvPr/>
        </p:nvSpPr>
        <p:spPr>
          <a:xfrm>
            <a:off x="7315200" y="-91440"/>
            <a:ext cx="1463040" cy="1463040"/>
          </a:xfrm>
          <a:prstGeom prst="ellipse">
            <a:avLst/>
          </a:prstGeom>
          <a:solidFill>
            <a:srgbClr val="F2B705"/>
          </a:solidFill>
          <a:ln/>
        </p:spPr>
      </p:sp>
      <p:sp>
        <p:nvSpPr>
          <p:cNvPr id="4" name="Panel 0-0"/>
          <p:cNvSpPr/>
          <p:nvPr/>
        </p:nvSpPr>
        <p:spPr>
          <a:xfrm>
            <a:off x="6035040" y="2331720"/>
            <a:ext cx="640080" cy="548640"/>
          </a:xfrm>
          <a:prstGeom prst="rect">
            <a:avLst/>
          </a:prstGeom>
          <a:solidFill>
            <a:srgbClr val="2E7D4F">
              <a:alpha val="65000"/>
            </a:srgbClr>
          </a:solidFill>
          <a:ln w="9525">
            <a:solidFill>
              <a:srgbClr val="8FBF9F"/>
            </a:solidFill>
            <a:prstDash val="solid"/>
          </a:ln>
        </p:spPr>
      </p:sp>
      <p:sp>
        <p:nvSpPr>
          <p:cNvPr id="5" name="Panel 0-1"/>
          <p:cNvSpPr/>
          <p:nvPr/>
        </p:nvSpPr>
        <p:spPr>
          <a:xfrm>
            <a:off x="6729984" y="2331720"/>
            <a:ext cx="640080" cy="548640"/>
          </a:xfrm>
          <a:prstGeom prst="rect">
            <a:avLst/>
          </a:prstGeom>
          <a:solidFill>
            <a:srgbClr val="2E7D4F">
              <a:alpha val="65000"/>
            </a:srgbClr>
          </a:solidFill>
          <a:ln w="9525">
            <a:solidFill>
              <a:srgbClr val="8FBF9F"/>
            </a:solidFill>
            <a:prstDash val="solid"/>
          </a:ln>
        </p:spPr>
      </p:sp>
      <p:sp>
        <p:nvSpPr>
          <p:cNvPr id="6" name="Panel 0-2"/>
          <p:cNvSpPr/>
          <p:nvPr/>
        </p:nvSpPr>
        <p:spPr>
          <a:xfrm>
            <a:off x="7424928" y="2331720"/>
            <a:ext cx="640080" cy="548640"/>
          </a:xfrm>
          <a:prstGeom prst="rect">
            <a:avLst/>
          </a:prstGeom>
          <a:solidFill>
            <a:srgbClr val="2E7D4F">
              <a:alpha val="65000"/>
            </a:srgbClr>
          </a:solidFill>
          <a:ln w="9525">
            <a:solidFill>
              <a:srgbClr val="8FBF9F"/>
            </a:solidFill>
            <a:prstDash val="solid"/>
          </a:ln>
        </p:spPr>
      </p:sp>
      <p:sp>
        <p:nvSpPr>
          <p:cNvPr id="7" name="Panel 0-3"/>
          <p:cNvSpPr/>
          <p:nvPr/>
        </p:nvSpPr>
        <p:spPr>
          <a:xfrm>
            <a:off x="8119872" y="2331720"/>
            <a:ext cx="640080" cy="548640"/>
          </a:xfrm>
          <a:prstGeom prst="rect">
            <a:avLst/>
          </a:prstGeom>
          <a:solidFill>
            <a:srgbClr val="2E7D4F">
              <a:alpha val="65000"/>
            </a:srgbClr>
          </a:solidFill>
          <a:ln w="9525">
            <a:solidFill>
              <a:srgbClr val="8FBF9F"/>
            </a:solidFill>
            <a:prstDash val="solid"/>
          </a:ln>
        </p:spPr>
      </p:sp>
      <p:sp>
        <p:nvSpPr>
          <p:cNvPr id="8" name="Panel 1-0"/>
          <p:cNvSpPr/>
          <p:nvPr/>
        </p:nvSpPr>
        <p:spPr>
          <a:xfrm>
            <a:off x="6035040" y="2935224"/>
            <a:ext cx="640080" cy="548640"/>
          </a:xfrm>
          <a:prstGeom prst="rect">
            <a:avLst/>
          </a:prstGeom>
          <a:solidFill>
            <a:srgbClr val="2E7D4F">
              <a:alpha val="65000"/>
            </a:srgbClr>
          </a:solidFill>
          <a:ln w="9525">
            <a:solidFill>
              <a:srgbClr val="8FBF9F"/>
            </a:solidFill>
            <a:prstDash val="solid"/>
          </a:ln>
        </p:spPr>
      </p:sp>
      <p:sp>
        <p:nvSpPr>
          <p:cNvPr id="9" name="Panel 1-1"/>
          <p:cNvSpPr/>
          <p:nvPr/>
        </p:nvSpPr>
        <p:spPr>
          <a:xfrm>
            <a:off x="6729984" y="2935224"/>
            <a:ext cx="640080" cy="548640"/>
          </a:xfrm>
          <a:prstGeom prst="rect">
            <a:avLst/>
          </a:prstGeom>
          <a:solidFill>
            <a:srgbClr val="2E7D4F">
              <a:alpha val="65000"/>
            </a:srgbClr>
          </a:solidFill>
          <a:ln w="9525">
            <a:solidFill>
              <a:srgbClr val="8FBF9F"/>
            </a:solidFill>
            <a:prstDash val="solid"/>
          </a:ln>
        </p:spPr>
      </p:sp>
      <p:sp>
        <p:nvSpPr>
          <p:cNvPr id="10" name="Panel 1-2"/>
          <p:cNvSpPr/>
          <p:nvPr/>
        </p:nvSpPr>
        <p:spPr>
          <a:xfrm>
            <a:off x="7424928" y="2935224"/>
            <a:ext cx="640080" cy="548640"/>
          </a:xfrm>
          <a:prstGeom prst="rect">
            <a:avLst/>
          </a:prstGeom>
          <a:solidFill>
            <a:srgbClr val="2E7D4F">
              <a:alpha val="65000"/>
            </a:srgbClr>
          </a:solidFill>
          <a:ln w="9525">
            <a:solidFill>
              <a:srgbClr val="8FBF9F"/>
            </a:solidFill>
            <a:prstDash val="solid"/>
          </a:ln>
        </p:spPr>
      </p:sp>
      <p:sp>
        <p:nvSpPr>
          <p:cNvPr id="11" name="Panel 1-3"/>
          <p:cNvSpPr/>
          <p:nvPr/>
        </p:nvSpPr>
        <p:spPr>
          <a:xfrm>
            <a:off x="8119872" y="2935224"/>
            <a:ext cx="640080" cy="548640"/>
          </a:xfrm>
          <a:prstGeom prst="rect">
            <a:avLst/>
          </a:prstGeom>
          <a:solidFill>
            <a:srgbClr val="2E7D4F">
              <a:alpha val="65000"/>
            </a:srgbClr>
          </a:solidFill>
          <a:ln w="9525">
            <a:solidFill>
              <a:srgbClr val="8FBF9F"/>
            </a:solidFill>
            <a:prstDash val="solid"/>
          </a:ln>
        </p:spPr>
      </p:sp>
      <p:sp>
        <p:nvSpPr>
          <p:cNvPr id="12" name="Panel 2-0"/>
          <p:cNvSpPr/>
          <p:nvPr/>
        </p:nvSpPr>
        <p:spPr>
          <a:xfrm>
            <a:off x="6035040" y="3538728"/>
            <a:ext cx="640080" cy="548640"/>
          </a:xfrm>
          <a:prstGeom prst="rect">
            <a:avLst/>
          </a:prstGeom>
          <a:solidFill>
            <a:srgbClr val="2E7D4F">
              <a:alpha val="65000"/>
            </a:srgbClr>
          </a:solidFill>
          <a:ln w="9525">
            <a:solidFill>
              <a:srgbClr val="8FBF9F"/>
            </a:solidFill>
            <a:prstDash val="solid"/>
          </a:ln>
        </p:spPr>
      </p:sp>
      <p:sp>
        <p:nvSpPr>
          <p:cNvPr id="13" name="Panel 2-1"/>
          <p:cNvSpPr/>
          <p:nvPr/>
        </p:nvSpPr>
        <p:spPr>
          <a:xfrm>
            <a:off x="6729984" y="3538728"/>
            <a:ext cx="640080" cy="548640"/>
          </a:xfrm>
          <a:prstGeom prst="rect">
            <a:avLst/>
          </a:prstGeom>
          <a:solidFill>
            <a:srgbClr val="2E7D4F">
              <a:alpha val="65000"/>
            </a:srgbClr>
          </a:solidFill>
          <a:ln w="9525">
            <a:solidFill>
              <a:srgbClr val="8FBF9F"/>
            </a:solidFill>
            <a:prstDash val="solid"/>
          </a:ln>
        </p:spPr>
      </p:sp>
      <p:sp>
        <p:nvSpPr>
          <p:cNvPr id="14" name="Panel 2-2"/>
          <p:cNvSpPr/>
          <p:nvPr/>
        </p:nvSpPr>
        <p:spPr>
          <a:xfrm>
            <a:off x="7424928" y="3538728"/>
            <a:ext cx="640080" cy="548640"/>
          </a:xfrm>
          <a:prstGeom prst="rect">
            <a:avLst/>
          </a:prstGeom>
          <a:solidFill>
            <a:srgbClr val="2E7D4F">
              <a:alpha val="65000"/>
            </a:srgbClr>
          </a:solidFill>
          <a:ln w="9525">
            <a:solidFill>
              <a:srgbClr val="8FBF9F"/>
            </a:solidFill>
            <a:prstDash val="solid"/>
          </a:ln>
        </p:spPr>
      </p:sp>
      <p:sp>
        <p:nvSpPr>
          <p:cNvPr id="15" name="Panel 2-3"/>
          <p:cNvSpPr/>
          <p:nvPr/>
        </p:nvSpPr>
        <p:spPr>
          <a:xfrm>
            <a:off x="8119872" y="3538728"/>
            <a:ext cx="640080" cy="548640"/>
          </a:xfrm>
          <a:prstGeom prst="rect">
            <a:avLst/>
          </a:prstGeom>
          <a:solidFill>
            <a:srgbClr val="2E7D4F">
              <a:alpha val="65000"/>
            </a:srgbClr>
          </a:solidFill>
          <a:ln w="9525">
            <a:solidFill>
              <a:srgbClr val="8FBF9F"/>
            </a:solidFill>
            <a:prstDash val="solid"/>
          </a:ln>
        </p:spPr>
      </p:sp>
      <p:sp>
        <p:nvSpPr>
          <p:cNvPr id="16" name="Panel 3-0"/>
          <p:cNvSpPr/>
          <p:nvPr/>
        </p:nvSpPr>
        <p:spPr>
          <a:xfrm>
            <a:off x="6035040" y="4142232"/>
            <a:ext cx="640080" cy="548640"/>
          </a:xfrm>
          <a:prstGeom prst="rect">
            <a:avLst/>
          </a:prstGeom>
          <a:solidFill>
            <a:srgbClr val="2E7D4F">
              <a:alpha val="65000"/>
            </a:srgbClr>
          </a:solidFill>
          <a:ln w="9525">
            <a:solidFill>
              <a:srgbClr val="8FBF9F"/>
            </a:solidFill>
            <a:prstDash val="solid"/>
          </a:ln>
        </p:spPr>
      </p:sp>
      <p:sp>
        <p:nvSpPr>
          <p:cNvPr id="17" name="Panel 3-1"/>
          <p:cNvSpPr/>
          <p:nvPr/>
        </p:nvSpPr>
        <p:spPr>
          <a:xfrm>
            <a:off x="6729984" y="4142232"/>
            <a:ext cx="640080" cy="548640"/>
          </a:xfrm>
          <a:prstGeom prst="rect">
            <a:avLst/>
          </a:prstGeom>
          <a:solidFill>
            <a:srgbClr val="2E7D4F">
              <a:alpha val="65000"/>
            </a:srgbClr>
          </a:solidFill>
          <a:ln w="9525">
            <a:solidFill>
              <a:srgbClr val="8FBF9F"/>
            </a:solidFill>
            <a:prstDash val="solid"/>
          </a:ln>
        </p:spPr>
      </p:sp>
      <p:sp>
        <p:nvSpPr>
          <p:cNvPr id="18" name="Panel 3-2"/>
          <p:cNvSpPr/>
          <p:nvPr/>
        </p:nvSpPr>
        <p:spPr>
          <a:xfrm>
            <a:off x="7424928" y="4142232"/>
            <a:ext cx="640080" cy="548640"/>
          </a:xfrm>
          <a:prstGeom prst="rect">
            <a:avLst/>
          </a:prstGeom>
          <a:solidFill>
            <a:srgbClr val="2E7D4F">
              <a:alpha val="65000"/>
            </a:srgbClr>
          </a:solidFill>
          <a:ln w="9525">
            <a:solidFill>
              <a:srgbClr val="8FBF9F"/>
            </a:solidFill>
            <a:prstDash val="solid"/>
          </a:ln>
        </p:spPr>
      </p:sp>
      <p:sp>
        <p:nvSpPr>
          <p:cNvPr id="19" name="Panel 3-3"/>
          <p:cNvSpPr/>
          <p:nvPr/>
        </p:nvSpPr>
        <p:spPr>
          <a:xfrm>
            <a:off x="8119872" y="4142232"/>
            <a:ext cx="640080" cy="548640"/>
          </a:xfrm>
          <a:prstGeom prst="rect">
            <a:avLst/>
          </a:prstGeom>
          <a:solidFill>
            <a:srgbClr val="2E7D4F">
              <a:alpha val="65000"/>
            </a:srgbClr>
          </a:solidFill>
          <a:ln w="9525">
            <a:solidFill>
              <a:srgbClr val="8FBF9F"/>
            </a:solidFill>
            <a:prstDash val="solid"/>
          </a:ln>
        </p:spPr>
      </p:sp>
      <p:sp>
        <p:nvSpPr>
          <p:cNvPr id="20" name="Text 18"/>
          <p:cNvSpPr txBox="1"/>
          <p:nvPr/>
        </p:nvSpPr>
        <p:spPr>
          <a:xfrm>
            <a:off x="548640" y="502920"/>
            <a:ext cx="5486400" cy="274320"/>
          </a:xfrm>
          <a:prstGeom prst="rect">
            <a:avLst/>
          </a:prstGeom>
          <a:noFill/>
          <a:ln/>
        </p:spPr>
        <p:txBody>
          <a:bodyPr wrap="square" lIns="0" tIns="0" rIns="0" bIns="0" rtlCol="0" anchor="ctr"/>
          <a:lstStyle/>
          <a:p>
            <a:pPr marL="0" indent="0">
              <a:buNone/>
            </a:pPr>
            <a:r>
              <a:rPr lang="en-US" sz="1200" b="1" kern="0" spc="200" dirty="0">
                <a:solidFill>
                  <a:srgbClr val="F2B705"/>
                </a:solidFill>
                <a:latin typeface="Calibri" pitchFamily="34" charset="0"/>
                <a:ea typeface="Calibri" pitchFamily="34" charset="-122"/>
                <a:cs typeface="Calibri" pitchFamily="34" charset="-120"/>
              </a:rPr>
              <a:t>CA3 CASE STUDY · BUSINESS INTELLIGENCE</a:t>
            </a:r>
            <a:endParaRPr lang="en-US" sz="1200" dirty="0"/>
          </a:p>
        </p:txBody>
      </p:sp>
      <p:sp>
        <p:nvSpPr>
          <p:cNvPr id="21" name="Text 19"/>
          <p:cNvSpPr txBox="1"/>
          <p:nvPr/>
        </p:nvSpPr>
        <p:spPr>
          <a:xfrm>
            <a:off x="548640" y="914400"/>
            <a:ext cx="6035040" cy="640080"/>
          </a:xfrm>
          <a:prstGeom prst="rect">
            <a:avLst/>
          </a:prstGeom>
          <a:noFill/>
          <a:ln/>
        </p:spPr>
        <p:txBody>
          <a:bodyPr wrap="square" lIns="0" tIns="0" rIns="0" bIns="0" rtlCol="0" anchor="ctr"/>
          <a:lstStyle/>
          <a:p>
            <a:pPr marL="0" indent="0">
              <a:buNone/>
            </a:pPr>
            <a:r>
              <a:rPr lang="en-US" sz="3400" b="1" dirty="0">
                <a:solidFill>
                  <a:srgbClr val="FFFFFF"/>
                </a:solidFill>
                <a:latin typeface="Georgia" pitchFamily="34" charset="0"/>
                <a:ea typeface="Georgia" pitchFamily="34" charset="-122"/>
                <a:cs typeface="Georgia" pitchFamily="34" charset="-120"/>
              </a:rPr>
              <a:t>Renewable Energy Intelligence</a:t>
            </a:r>
            <a:endParaRPr lang="en-US" sz="3400" dirty="0"/>
          </a:p>
        </p:txBody>
      </p:sp>
      <p:sp>
        <p:nvSpPr>
          <p:cNvPr id="22" name="Text 20"/>
          <p:cNvSpPr txBox="1"/>
          <p:nvPr/>
        </p:nvSpPr>
        <p:spPr>
          <a:xfrm>
            <a:off x="548640" y="1645920"/>
            <a:ext cx="5120640" cy="822960"/>
          </a:xfrm>
          <a:prstGeom prst="rect">
            <a:avLst/>
          </a:prstGeom>
          <a:noFill/>
          <a:ln/>
        </p:spPr>
        <p:txBody>
          <a:bodyPr wrap="square" lIns="0" tIns="0" rIns="0" bIns="0" rtlCol="0" anchor="ctr"/>
          <a:lstStyle/>
          <a:p>
            <a:pPr marL="0" indent="0">
              <a:buNone/>
            </a:pPr>
            <a:r>
              <a:rPr lang="en-US" sz="1800" dirty="0">
                <a:solidFill>
                  <a:srgbClr val="FFFFFF"/>
                </a:solidFill>
                <a:latin typeface="Calibri" pitchFamily="34" charset="0"/>
                <a:ea typeface="Calibri" pitchFamily="34" charset="-122"/>
                <a:cs typeface="Calibri" pitchFamily="34" charset="-120"/>
              </a:rPr>
              <a:t>Solar Generation, Electricity Demand and Energy Performance Analytics Using R</a:t>
            </a:r>
            <a:endParaRPr lang="en-US" sz="1800" dirty="0"/>
          </a:p>
        </p:txBody>
      </p:sp>
      <p:sp>
        <p:nvSpPr>
          <p:cNvPr id="23" name="Text 21"/>
          <p:cNvSpPr txBox="1"/>
          <p:nvPr/>
        </p:nvSpPr>
        <p:spPr>
          <a:xfrm>
            <a:off x="548640" y="2560320"/>
            <a:ext cx="4572000" cy="320040"/>
          </a:xfrm>
          <a:prstGeom prst="rect">
            <a:avLst/>
          </a:prstGeom>
          <a:noFill/>
          <a:ln/>
        </p:spPr>
        <p:txBody>
          <a:bodyPr wrap="square" lIns="0" tIns="0" rIns="0" bIns="0" rtlCol="0" anchor="ctr"/>
          <a:lstStyle/>
          <a:p>
            <a:pPr marL="0" indent="0">
              <a:buNone/>
            </a:pPr>
            <a:r>
              <a:rPr lang="en-US" sz="1800" b="1" dirty="0">
                <a:solidFill>
                  <a:srgbClr val="FFFFFF"/>
                </a:solidFill>
                <a:latin typeface="Calibri" pitchFamily="34" charset="0"/>
                <a:ea typeface="Calibri" pitchFamily="34" charset="-122"/>
                <a:cs typeface="Calibri" pitchFamily="34" charset="-120"/>
              </a:rPr>
              <a:t>Ishika Ishwar Geed – 23070521060</a:t>
            </a:r>
          </a:p>
          <a:p>
            <a:pPr marL="0" indent="0">
              <a:buNone/>
            </a:pPr>
            <a:r>
              <a:rPr lang="en-US" b="1" dirty="0">
                <a:solidFill>
                  <a:srgbClr val="FFFFFF"/>
                </a:solidFill>
                <a:latin typeface="Calibri" pitchFamily="34" charset="0"/>
                <a:ea typeface="Calibri" pitchFamily="34" charset="-122"/>
                <a:cs typeface="Calibri" pitchFamily="34" charset="-120"/>
              </a:rPr>
              <a:t>Harshavardhan Kurri - 23070521058</a:t>
            </a:r>
            <a:endParaRPr lang="en-US" sz="1800" dirty="0"/>
          </a:p>
        </p:txBody>
      </p:sp>
      <p:sp>
        <p:nvSpPr>
          <p:cNvPr id="24" name="Text 22"/>
          <p:cNvSpPr txBox="1"/>
          <p:nvPr/>
        </p:nvSpPr>
        <p:spPr>
          <a:xfrm>
            <a:off x="548640" y="2999232"/>
            <a:ext cx="4754880" cy="256032"/>
          </a:xfrm>
          <a:prstGeom prst="rect">
            <a:avLst/>
          </a:prstGeom>
          <a:noFill/>
          <a:ln/>
        </p:spPr>
        <p:txBody>
          <a:bodyPr wrap="square" lIns="0" tIns="0" rIns="0" bIns="0" rtlCol="0" anchor="ctr"/>
          <a:lstStyle/>
          <a:p>
            <a:pPr marL="0" indent="0">
              <a:buNone/>
            </a:pPr>
            <a:r>
              <a:rPr lang="en-US" sz="1300" dirty="0">
                <a:solidFill>
                  <a:srgbClr val="D5E5D8"/>
                </a:solidFill>
                <a:latin typeface="Calibri" pitchFamily="34" charset="0"/>
                <a:ea typeface="Calibri" pitchFamily="34" charset="-122"/>
                <a:cs typeface="Calibri" pitchFamily="34" charset="-120"/>
              </a:rPr>
              <a:t>B.Tech, Computer Science and Engineering</a:t>
            </a:r>
            <a:endParaRPr lang="en-US" sz="1300" dirty="0"/>
          </a:p>
        </p:txBody>
      </p:sp>
      <p:sp>
        <p:nvSpPr>
          <p:cNvPr id="25" name="Text 23"/>
          <p:cNvSpPr txBox="1"/>
          <p:nvPr/>
        </p:nvSpPr>
        <p:spPr>
          <a:xfrm>
            <a:off x="548640" y="3429000"/>
            <a:ext cx="4937760" cy="502920"/>
          </a:xfrm>
          <a:prstGeom prst="rect">
            <a:avLst/>
          </a:prstGeom>
          <a:noFill/>
          <a:ln/>
        </p:spPr>
        <p:txBody>
          <a:bodyPr wrap="square" lIns="0" tIns="0" rIns="0" bIns="0" rtlCol="0" anchor="ctr"/>
          <a:lstStyle/>
          <a:p>
            <a:pPr marL="0" indent="0">
              <a:buNone/>
            </a:pPr>
            <a:r>
              <a:rPr lang="en-US" sz="1300" dirty="0">
                <a:solidFill>
                  <a:srgbClr val="D5E5D8"/>
                </a:solidFill>
                <a:latin typeface="Calibri" pitchFamily="34" charset="0"/>
                <a:ea typeface="Calibri" pitchFamily="34" charset="-122"/>
                <a:cs typeface="Calibri" pitchFamily="34" charset="-120"/>
              </a:rPr>
              <a:t>Symbiosis Institute of Technology, Nagpur</a:t>
            </a:r>
            <a:endParaRPr lang="en-US" sz="1300" dirty="0"/>
          </a:p>
          <a:p>
            <a:pPr marL="0" indent="0">
              <a:buNone/>
            </a:pPr>
            <a:r>
              <a:rPr lang="en-US" sz="1300" dirty="0">
                <a:solidFill>
                  <a:srgbClr val="D5E5D8"/>
                </a:solidFill>
                <a:latin typeface="Calibri" pitchFamily="34" charset="0"/>
                <a:ea typeface="Calibri" pitchFamily="34" charset="-122"/>
                <a:cs typeface="Calibri" pitchFamily="34" charset="-120"/>
              </a:rPr>
              <a:t>Symbiosis International (Deemed University)</a:t>
            </a:r>
            <a:endParaRPr lang="en-US" sz="1300" dirty="0"/>
          </a:p>
        </p:txBody>
      </p:sp>
      <p:sp>
        <p:nvSpPr>
          <p:cNvPr id="28" name="Text 26"/>
          <p:cNvSpPr txBox="1"/>
          <p:nvPr/>
        </p:nvSpPr>
        <p:spPr>
          <a:xfrm>
            <a:off x="593157" y="4078224"/>
            <a:ext cx="1463040" cy="358300"/>
          </a:xfrm>
          <a:prstGeom prst="rect">
            <a:avLst/>
          </a:prstGeom>
          <a:solidFill>
            <a:srgbClr val="FFE9A3"/>
          </a:solidFill>
          <a:ln/>
        </p:spPr>
        <p:txBody>
          <a:bodyPr wrap="square" lIns="25400" tIns="25400" rIns="25400" bIns="25400" rtlCol="0" anchor="ctr"/>
          <a:lstStyle/>
          <a:p>
            <a:pPr marL="0" indent="0" algn="ctr">
              <a:buNone/>
            </a:pPr>
            <a:r>
              <a:rPr lang="en-US" sz="1100" dirty="0">
                <a:solidFill>
                  <a:srgbClr val="5A4300"/>
                </a:solidFill>
                <a:latin typeface="Calibri" pitchFamily="34" charset="0"/>
                <a:ea typeface="Calibri" pitchFamily="34" charset="-122"/>
                <a:cs typeface="Calibri" pitchFamily="34" charset="-120"/>
              </a:rPr>
              <a:t>Faculty Name – Dr. Snehlata Wankhade</a:t>
            </a:r>
            <a:endParaRPr lang="en-US" sz="1100" dirty="0"/>
          </a:p>
        </p:txBody>
      </p:sp>
      <p:sp>
        <p:nvSpPr>
          <p:cNvPr id="29" name="Text 27"/>
          <p:cNvSpPr txBox="1"/>
          <p:nvPr/>
        </p:nvSpPr>
        <p:spPr>
          <a:xfrm>
            <a:off x="2240280" y="4087368"/>
            <a:ext cx="1371600" cy="358300"/>
          </a:xfrm>
          <a:prstGeom prst="rect">
            <a:avLst/>
          </a:prstGeom>
          <a:solidFill>
            <a:srgbClr val="FFE9A3"/>
          </a:solidFill>
          <a:ln/>
        </p:spPr>
        <p:txBody>
          <a:bodyPr wrap="square" lIns="25400" tIns="25400" rIns="25400" bIns="25400" rtlCol="0" anchor="ctr"/>
          <a:lstStyle/>
          <a:p>
            <a:pPr marL="0" indent="0" algn="ctr">
              <a:buNone/>
            </a:pPr>
            <a:r>
              <a:rPr lang="en-US" sz="1100" dirty="0">
                <a:solidFill>
                  <a:srgbClr val="5A4300"/>
                </a:solidFill>
                <a:latin typeface="Calibri" pitchFamily="34" charset="0"/>
                <a:ea typeface="Calibri" pitchFamily="34" charset="-122"/>
                <a:cs typeface="Calibri" pitchFamily="34" charset="-120"/>
              </a:rPr>
              <a:t>Academic Year – 2026-27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Why analyse generation with demand?</a:t>
            </a:r>
            <a:endParaRPr lang="en-US" sz="2600" dirty="0"/>
          </a:p>
        </p:txBody>
      </p:sp>
      <p:sp>
        <p:nvSpPr>
          <p:cNvPr id="3" name="Text 1"/>
          <p:cNvSpPr txBox="1"/>
          <p:nvPr/>
        </p:nvSpPr>
        <p:spPr>
          <a:xfrm>
            <a:off x="457200" y="1097280"/>
            <a:ext cx="4754880" cy="2194560"/>
          </a:xfrm>
          <a:prstGeom prst="rect">
            <a:avLst/>
          </a:prstGeom>
          <a:noFill/>
          <a:ln/>
        </p:spPr>
        <p:txBody>
          <a:bodyPr wrap="square" lIns="0" tIns="0" rIns="0" bIns="0" rtlCol="0" anchor="t"/>
          <a:lstStyle/>
          <a:p>
            <a:pPr marL="177800" indent="-177800">
              <a:spcAft>
                <a:spcPts val="1000"/>
              </a:spcAft>
              <a:buSzPct val="100000"/>
              <a:buChar char="•"/>
            </a:pPr>
            <a:r>
              <a:rPr lang="en-US" sz="1500" dirty="0">
                <a:solidFill>
                  <a:srgbClr val="1E2A22"/>
                </a:solidFill>
                <a:latin typeface="Calibri" pitchFamily="34" charset="0"/>
                <a:ea typeface="Calibri" pitchFamily="34" charset="-122"/>
                <a:cs typeface="Calibri" pitchFamily="34" charset="-120"/>
              </a:rPr>
              <a:t>Solar output follows daylight and weather, and is zero at night</a:t>
            </a:r>
            <a:endParaRPr lang="en-US" sz="1500" dirty="0"/>
          </a:p>
          <a:p>
            <a:pPr marL="177800" indent="-177800">
              <a:spcAft>
                <a:spcPts val="1000"/>
              </a:spcAft>
              <a:buSzPct val="100000"/>
              <a:buChar char="•"/>
            </a:pPr>
            <a:r>
              <a:rPr lang="en-US" sz="1500" dirty="0">
                <a:solidFill>
                  <a:srgbClr val="1E2A22"/>
                </a:solidFill>
                <a:latin typeface="Calibri" pitchFamily="34" charset="0"/>
                <a:ea typeface="Calibri" pitchFamily="34" charset="-122"/>
                <a:cs typeface="Calibri" pitchFamily="34" charset="-120"/>
              </a:rPr>
              <a:t>Electricity demand changes by hour, day type and season</a:t>
            </a:r>
            <a:endParaRPr lang="en-US" sz="1500" dirty="0"/>
          </a:p>
          <a:p>
            <a:pPr marL="177800" indent="-177800">
              <a:spcAft>
                <a:spcPts val="1000"/>
              </a:spcAft>
              <a:buSzPct val="100000"/>
              <a:buChar char="•"/>
            </a:pPr>
            <a:r>
              <a:rPr lang="en-US" sz="1500" dirty="0">
                <a:solidFill>
                  <a:srgbClr val="1E2A22"/>
                </a:solidFill>
                <a:latin typeface="Calibri" pitchFamily="34" charset="0"/>
                <a:ea typeface="Calibri" pitchFamily="34" charset="-122"/>
                <a:cs typeface="Calibri" pitchFamily="34" charset="-120"/>
              </a:rPr>
              <a:t>Renewable output does not always line up with demand</a:t>
            </a:r>
            <a:endParaRPr lang="en-US" sz="1500" dirty="0"/>
          </a:p>
          <a:p>
            <a:pPr marL="177800" indent="-177800">
              <a:spcAft>
                <a:spcPts val="1000"/>
              </a:spcAft>
              <a:buSzPct val="100000"/>
              <a:buChar char="•"/>
            </a:pPr>
            <a:r>
              <a:rPr lang="en-US" sz="1500" dirty="0">
                <a:solidFill>
                  <a:srgbClr val="1E2A22"/>
                </a:solidFill>
                <a:latin typeface="Calibri" pitchFamily="34" charset="0"/>
                <a:ea typeface="Calibri" pitchFamily="34" charset="-122"/>
                <a:cs typeface="Calibri" pitchFamily="34" charset="-120"/>
              </a:rPr>
              <a:t>Planners need reliable evidence to decide on flexibility and storage</a:t>
            </a:r>
            <a:endParaRPr lang="en-US" sz="1500" dirty="0"/>
          </a:p>
        </p:txBody>
      </p:sp>
      <p:sp>
        <p:nvSpPr>
          <p:cNvPr id="4" name="Node 1"/>
          <p:cNvSpPr/>
          <p:nvPr/>
        </p:nvSpPr>
        <p:spPr>
          <a:xfrm>
            <a:off x="5897880" y="1005840"/>
            <a:ext cx="2788920" cy="640080"/>
          </a:xfrm>
          <a:prstGeom prst="roundRect">
            <a:avLst>
              <a:gd name="adj" fmla="val 11429"/>
            </a:avLst>
          </a:prstGeom>
          <a:solidFill>
            <a:srgbClr val="F2B705"/>
          </a:solidFill>
          <a:ln/>
        </p:spPr>
      </p:sp>
      <p:sp>
        <p:nvSpPr>
          <p:cNvPr id="5" name="Text 3"/>
          <p:cNvSpPr txBox="1"/>
          <p:nvPr/>
        </p:nvSpPr>
        <p:spPr>
          <a:xfrm>
            <a:off x="5897880" y="1005840"/>
            <a:ext cx="2788920" cy="640080"/>
          </a:xfrm>
          <a:prstGeom prst="rect">
            <a:avLst/>
          </a:prstGeom>
          <a:noFill/>
          <a:ln/>
        </p:spPr>
        <p:txBody>
          <a:bodyPr wrap="square" lIns="25400" tIns="25400" rIns="25400" bIns="25400" rtlCol="0" anchor="ctr"/>
          <a:lstStyle/>
          <a:p>
            <a:pPr marL="0" indent="0" algn="ctr">
              <a:buNone/>
            </a:pPr>
            <a:r>
              <a:rPr lang="en-US" sz="1400" b="1" dirty="0">
                <a:solidFill>
                  <a:srgbClr val="1E2A22"/>
                </a:solidFill>
                <a:latin typeface="Calibri" pitchFamily="34" charset="0"/>
                <a:ea typeface="Calibri" pitchFamily="34" charset="-122"/>
                <a:cs typeface="Calibri" pitchFamily="34" charset="-120"/>
              </a:rPr>
              <a:t>Renewable generation</a:t>
            </a:r>
            <a:endParaRPr lang="en-US" sz="1400" dirty="0"/>
          </a:p>
          <a:p>
            <a:pPr marL="0" indent="0" algn="ctr">
              <a:buNone/>
            </a:pPr>
            <a:r>
              <a:rPr lang="en-US" sz="1100" dirty="0">
                <a:solidFill>
                  <a:srgbClr val="1E2A22"/>
                </a:solidFill>
                <a:latin typeface="Calibri" pitchFamily="34" charset="0"/>
                <a:ea typeface="Calibri" pitchFamily="34" charset="-122"/>
                <a:cs typeface="Calibri" pitchFamily="34" charset="-120"/>
              </a:rPr>
              <a:t>solar + wind</a:t>
            </a:r>
            <a:endParaRPr lang="en-US" sz="1400" dirty="0"/>
          </a:p>
        </p:txBody>
      </p:sp>
      <p:sp>
        <p:nvSpPr>
          <p:cNvPr id="6" name="Arrow 1"/>
          <p:cNvSpPr/>
          <p:nvPr/>
        </p:nvSpPr>
        <p:spPr>
          <a:xfrm>
            <a:off x="7173468" y="1655064"/>
            <a:ext cx="237744" cy="201168"/>
          </a:xfrm>
          <a:prstGeom prst="downArrow">
            <a:avLst/>
          </a:prstGeom>
          <a:solidFill>
            <a:srgbClr val="5B6B60"/>
          </a:solidFill>
          <a:ln/>
        </p:spPr>
      </p:sp>
      <p:sp>
        <p:nvSpPr>
          <p:cNvPr id="7" name="Node 2"/>
          <p:cNvSpPr/>
          <p:nvPr/>
        </p:nvSpPr>
        <p:spPr>
          <a:xfrm>
            <a:off x="5897880" y="1874520"/>
            <a:ext cx="2788920" cy="640080"/>
          </a:xfrm>
          <a:prstGeom prst="roundRect">
            <a:avLst>
              <a:gd name="adj" fmla="val 11429"/>
            </a:avLst>
          </a:prstGeom>
          <a:solidFill>
            <a:srgbClr val="2E7D4F"/>
          </a:solidFill>
          <a:ln/>
        </p:spPr>
      </p:sp>
      <p:sp>
        <p:nvSpPr>
          <p:cNvPr id="8" name="Text 6"/>
          <p:cNvSpPr txBox="1"/>
          <p:nvPr/>
        </p:nvSpPr>
        <p:spPr>
          <a:xfrm>
            <a:off x="5897880" y="1874520"/>
            <a:ext cx="2788920" cy="640080"/>
          </a:xfrm>
          <a:prstGeom prst="rect">
            <a:avLst/>
          </a:prstGeom>
          <a:noFill/>
          <a:ln/>
        </p:spPr>
        <p:txBody>
          <a:bodyPr wrap="square" lIns="25400" tIns="25400" rIns="25400" bIns="254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Electricity demand</a:t>
            </a:r>
            <a:endParaRPr lang="en-US" sz="1400" dirty="0"/>
          </a:p>
          <a:p>
            <a:pPr marL="0" indent="0" algn="ctr">
              <a:buNone/>
            </a:pPr>
            <a:r>
              <a:rPr lang="en-US" sz="1100" dirty="0">
                <a:solidFill>
                  <a:srgbClr val="FFFFFF"/>
                </a:solidFill>
                <a:latin typeface="Calibri" pitchFamily="34" charset="0"/>
                <a:ea typeface="Calibri" pitchFamily="34" charset="-122"/>
                <a:cs typeface="Calibri" pitchFamily="34" charset="-120"/>
              </a:rPr>
              <a:t>national, hourly</a:t>
            </a:r>
            <a:endParaRPr lang="en-US" sz="1400" dirty="0"/>
          </a:p>
        </p:txBody>
      </p:sp>
      <p:sp>
        <p:nvSpPr>
          <p:cNvPr id="9" name="Arrow 2"/>
          <p:cNvSpPr/>
          <p:nvPr/>
        </p:nvSpPr>
        <p:spPr>
          <a:xfrm>
            <a:off x="7173468" y="2523744"/>
            <a:ext cx="237744" cy="201168"/>
          </a:xfrm>
          <a:prstGeom prst="downArrow">
            <a:avLst/>
          </a:prstGeom>
          <a:solidFill>
            <a:srgbClr val="5B6B60"/>
          </a:solidFill>
          <a:ln/>
        </p:spPr>
      </p:sp>
      <p:sp>
        <p:nvSpPr>
          <p:cNvPr id="10" name="Node 3"/>
          <p:cNvSpPr/>
          <p:nvPr/>
        </p:nvSpPr>
        <p:spPr>
          <a:xfrm>
            <a:off x="5897880" y="2743200"/>
            <a:ext cx="2788920" cy="640080"/>
          </a:xfrm>
          <a:prstGeom prst="roundRect">
            <a:avLst>
              <a:gd name="adj" fmla="val 11429"/>
            </a:avLst>
          </a:prstGeom>
          <a:solidFill>
            <a:srgbClr val="1F4D2B"/>
          </a:solidFill>
          <a:ln/>
        </p:spPr>
      </p:sp>
      <p:sp>
        <p:nvSpPr>
          <p:cNvPr id="11" name="Text 9"/>
          <p:cNvSpPr txBox="1"/>
          <p:nvPr/>
        </p:nvSpPr>
        <p:spPr>
          <a:xfrm>
            <a:off x="5897880" y="2743200"/>
            <a:ext cx="2788920" cy="640080"/>
          </a:xfrm>
          <a:prstGeom prst="rect">
            <a:avLst/>
          </a:prstGeom>
          <a:noFill/>
          <a:ln/>
        </p:spPr>
        <p:txBody>
          <a:bodyPr wrap="square" lIns="25400" tIns="25400" rIns="25400" bIns="2540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Energy planning</a:t>
            </a:r>
            <a:endParaRPr lang="en-US" sz="1400" dirty="0"/>
          </a:p>
          <a:p>
            <a:pPr marL="0" indent="0" algn="ctr">
              <a:buNone/>
            </a:pPr>
            <a:r>
              <a:rPr lang="en-US" sz="1100" dirty="0">
                <a:solidFill>
                  <a:srgbClr val="FFFFFF"/>
                </a:solidFill>
                <a:latin typeface="Calibri" pitchFamily="34" charset="0"/>
                <a:ea typeface="Calibri" pitchFamily="34" charset="-122"/>
                <a:cs typeface="Calibri" pitchFamily="34" charset="-120"/>
              </a:rPr>
              <a:t>storage, ramping, forecasting</a:t>
            </a:r>
            <a:endParaRPr lang="en-US" sz="1400" dirty="0"/>
          </a:p>
        </p:txBody>
      </p:sp>
      <p:sp>
        <p:nvSpPr>
          <p:cNvPr id="12" name="Problem band"/>
          <p:cNvSpPr/>
          <p:nvPr/>
        </p:nvSpPr>
        <p:spPr>
          <a:xfrm>
            <a:off x="457200" y="3657600"/>
            <a:ext cx="8229600" cy="960120"/>
          </a:xfrm>
          <a:prstGeom prst="rect">
            <a:avLst/>
          </a:prstGeom>
          <a:solidFill>
            <a:srgbClr val="E3EDE4"/>
          </a:solidFill>
          <a:ln/>
        </p:spPr>
      </p:sp>
      <p:sp>
        <p:nvSpPr>
          <p:cNvPr id="13" name="Problem accent"/>
          <p:cNvSpPr/>
          <p:nvPr/>
        </p:nvSpPr>
        <p:spPr>
          <a:xfrm>
            <a:off x="457200" y="3657600"/>
            <a:ext cx="73152" cy="960120"/>
          </a:xfrm>
          <a:prstGeom prst="rect">
            <a:avLst/>
          </a:prstGeom>
          <a:solidFill>
            <a:srgbClr val="F2B705"/>
          </a:solidFill>
          <a:ln/>
        </p:spPr>
      </p:sp>
      <p:sp>
        <p:nvSpPr>
          <p:cNvPr id="14" name="Text 12"/>
          <p:cNvSpPr txBox="1"/>
          <p:nvPr/>
        </p:nvSpPr>
        <p:spPr>
          <a:xfrm>
            <a:off x="731520" y="3703320"/>
            <a:ext cx="7772400" cy="868680"/>
          </a:xfrm>
          <a:prstGeom prst="rect">
            <a:avLst/>
          </a:prstGeom>
          <a:noFill/>
          <a:ln/>
        </p:spPr>
        <p:txBody>
          <a:bodyPr wrap="square" lIns="0" tIns="0" rIns="0" bIns="0" rtlCol="0" anchor="ctr"/>
          <a:lstStyle/>
          <a:p>
            <a:pPr marL="0" indent="0">
              <a:buNone/>
            </a:pPr>
            <a:r>
              <a:rPr lang="en-US" sz="1300" b="1" dirty="0">
                <a:solidFill>
                  <a:srgbClr val="1F4D2B"/>
                </a:solidFill>
                <a:latin typeface="Calibri" pitchFamily="34" charset="0"/>
                <a:ea typeface="Calibri" pitchFamily="34" charset="-122"/>
                <a:cs typeface="Calibri" pitchFamily="34" charset="-120"/>
              </a:rPr>
              <a:t>Business problem  </a:t>
            </a:r>
            <a:endParaRPr lang="en-US" sz="1300" dirty="0"/>
          </a:p>
          <a:p>
            <a:pPr marL="0" indent="0">
              <a:buNone/>
            </a:pPr>
            <a:r>
              <a:rPr lang="en-US" sz="1400" dirty="0">
                <a:solidFill>
                  <a:srgbClr val="1E2A22"/>
                </a:solidFill>
                <a:latin typeface="Calibri" pitchFamily="34" charset="0"/>
                <a:ea typeface="Calibri" pitchFamily="34" charset="-122"/>
                <a:cs typeface="Calibri" pitchFamily="34" charset="-120"/>
              </a:rPr>
              <a:t>How do solar and wind generation vary against national demand by hour, season and day type, and how much residual demand must other resources meet?</a:t>
            </a:r>
            <a:endParaRPr lang="en-US" sz="1300" dirty="0"/>
          </a:p>
        </p:txBody>
      </p:sp>
      <p:sp>
        <p:nvSpPr>
          <p:cNvPr id="18" name="Slide Number Placeholder 17">
            <a:extLst>
              <a:ext uri="{FF2B5EF4-FFF2-40B4-BE49-F238E27FC236}">
                <a16:creationId xmlns:a16="http://schemas.microsoft.com/office/drawing/2014/main" id="{4B577A9E-D7C3-EC96-3C44-A2C509B6AB34}"/>
              </a:ext>
            </a:extLst>
          </p:cNvPr>
          <p:cNvSpPr>
            <a:spLocks noGrp="1"/>
          </p:cNvSpPr>
          <p:nvPr>
            <p:ph type="sldNum" sz="quarter" idx="4294967295"/>
          </p:nvPr>
        </p:nvSpPr>
        <p:spPr/>
        <p:txBody>
          <a:bodyPr/>
          <a:lstStyle/>
          <a:p>
            <a:pPr algn="r"/>
            <a:fld id="{F7021451-1387-4CA6-816F-3879F97B5CBC}" type="slidenum">
              <a:rPr lang="en-US" b="0" smtClean="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Objectives and scope</a:t>
            </a:r>
            <a:endParaRPr lang="en-US" sz="2600" dirty="0"/>
          </a:p>
        </p:txBody>
      </p:sp>
      <p:sp>
        <p:nvSpPr>
          <p:cNvPr id="3" name="Num 1"/>
          <p:cNvSpPr/>
          <p:nvPr/>
        </p:nvSpPr>
        <p:spPr>
          <a:xfrm>
            <a:off x="457200" y="1097280"/>
            <a:ext cx="384048" cy="384048"/>
          </a:xfrm>
          <a:prstGeom prst="ellipse">
            <a:avLst/>
          </a:prstGeom>
          <a:solidFill>
            <a:srgbClr val="1F4D2B"/>
          </a:solidFill>
          <a:ln/>
        </p:spPr>
      </p:sp>
      <p:sp>
        <p:nvSpPr>
          <p:cNvPr id="4" name="Text 2"/>
          <p:cNvSpPr txBox="1"/>
          <p:nvPr/>
        </p:nvSpPr>
        <p:spPr>
          <a:xfrm>
            <a:off x="457200" y="109728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5" name="Text 3"/>
          <p:cNvSpPr txBox="1"/>
          <p:nvPr/>
        </p:nvSpPr>
        <p:spPr>
          <a:xfrm>
            <a:off x="1005840" y="1051560"/>
            <a:ext cx="4114800" cy="502920"/>
          </a:xfrm>
          <a:prstGeom prst="rect">
            <a:avLst/>
          </a:prstGeom>
          <a:noFill/>
          <a:ln/>
        </p:spPr>
        <p:txBody>
          <a:bodyPr wrap="square" lIns="0" tIns="0" rIns="0" bIns="0" rtlCol="0" anchor="ctr"/>
          <a:lstStyle/>
          <a:p>
            <a:pPr marL="0" indent="0">
              <a:buNone/>
            </a:pPr>
            <a:r>
              <a:rPr lang="en-US" sz="1400" dirty="0">
                <a:solidFill>
                  <a:srgbClr val="1E2A22"/>
                </a:solidFill>
                <a:latin typeface="Calibri" pitchFamily="34" charset="0"/>
                <a:ea typeface="Calibri" pitchFamily="34" charset="-122"/>
                <a:cs typeface="Calibri" pitchFamily="34" charset="-120"/>
              </a:rPr>
              <a:t>Summarise solar, wind and total renewable generation against demand</a:t>
            </a:r>
            <a:endParaRPr lang="en-US" sz="1400" dirty="0"/>
          </a:p>
        </p:txBody>
      </p:sp>
      <p:sp>
        <p:nvSpPr>
          <p:cNvPr id="6" name="Num 2"/>
          <p:cNvSpPr/>
          <p:nvPr/>
        </p:nvSpPr>
        <p:spPr>
          <a:xfrm>
            <a:off x="457200" y="1737360"/>
            <a:ext cx="384048" cy="384048"/>
          </a:xfrm>
          <a:prstGeom prst="ellipse">
            <a:avLst/>
          </a:prstGeom>
          <a:solidFill>
            <a:srgbClr val="1F4D2B"/>
          </a:solidFill>
          <a:ln/>
        </p:spPr>
      </p:sp>
      <p:sp>
        <p:nvSpPr>
          <p:cNvPr id="7" name="Text 5"/>
          <p:cNvSpPr txBox="1"/>
          <p:nvPr/>
        </p:nvSpPr>
        <p:spPr>
          <a:xfrm>
            <a:off x="457200" y="17373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8" name="Text 6"/>
          <p:cNvSpPr txBox="1"/>
          <p:nvPr/>
        </p:nvSpPr>
        <p:spPr>
          <a:xfrm>
            <a:off x="1005840" y="1691640"/>
            <a:ext cx="4114800" cy="502920"/>
          </a:xfrm>
          <a:prstGeom prst="rect">
            <a:avLst/>
          </a:prstGeom>
          <a:noFill/>
          <a:ln/>
        </p:spPr>
        <p:txBody>
          <a:bodyPr wrap="square" lIns="0" tIns="0" rIns="0" bIns="0" rtlCol="0" anchor="ctr"/>
          <a:lstStyle/>
          <a:p>
            <a:pPr marL="0" indent="0">
              <a:buNone/>
            </a:pPr>
            <a:r>
              <a:rPr lang="en-US" sz="1400" dirty="0">
                <a:solidFill>
                  <a:srgbClr val="1E2A22"/>
                </a:solidFill>
                <a:latin typeface="Calibri" pitchFamily="34" charset="0"/>
                <a:ea typeface="Calibri" pitchFamily="34" charset="-122"/>
                <a:cs typeface="Calibri" pitchFamily="34" charset="-120"/>
              </a:rPr>
              <a:t>Identify hourly and seasonal patterns in solar and wind</a:t>
            </a:r>
            <a:endParaRPr lang="en-US" sz="1400" dirty="0"/>
          </a:p>
        </p:txBody>
      </p:sp>
      <p:sp>
        <p:nvSpPr>
          <p:cNvPr id="9" name="Num 3"/>
          <p:cNvSpPr/>
          <p:nvPr/>
        </p:nvSpPr>
        <p:spPr>
          <a:xfrm>
            <a:off x="457200" y="2377440"/>
            <a:ext cx="384048" cy="384048"/>
          </a:xfrm>
          <a:prstGeom prst="ellipse">
            <a:avLst/>
          </a:prstGeom>
          <a:solidFill>
            <a:srgbClr val="1F4D2B"/>
          </a:solidFill>
          <a:ln/>
        </p:spPr>
      </p:sp>
      <p:sp>
        <p:nvSpPr>
          <p:cNvPr id="10" name="Text 8"/>
          <p:cNvSpPr txBox="1"/>
          <p:nvPr/>
        </p:nvSpPr>
        <p:spPr>
          <a:xfrm>
            <a:off x="457200" y="237744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1" name="Text 9"/>
          <p:cNvSpPr txBox="1"/>
          <p:nvPr/>
        </p:nvSpPr>
        <p:spPr>
          <a:xfrm>
            <a:off x="1005840" y="2331720"/>
            <a:ext cx="4114800" cy="502920"/>
          </a:xfrm>
          <a:prstGeom prst="rect">
            <a:avLst/>
          </a:prstGeom>
          <a:noFill/>
          <a:ln/>
        </p:spPr>
        <p:txBody>
          <a:bodyPr wrap="square" lIns="0" tIns="0" rIns="0" bIns="0" rtlCol="0" anchor="ctr"/>
          <a:lstStyle/>
          <a:p>
            <a:pPr marL="0" indent="0">
              <a:buNone/>
            </a:pPr>
            <a:r>
              <a:rPr lang="en-US" sz="1400" dirty="0">
                <a:solidFill>
                  <a:srgbClr val="1E2A22"/>
                </a:solidFill>
                <a:latin typeface="Calibri" pitchFamily="34" charset="0"/>
                <a:ea typeface="Calibri" pitchFamily="34" charset="-122"/>
                <a:cs typeface="Calibri" pitchFamily="34" charset="-120"/>
              </a:rPr>
              <a:t>Measure residual demand, hourly ramps and renewable share</a:t>
            </a:r>
            <a:endParaRPr lang="en-US" sz="1400" dirty="0"/>
          </a:p>
        </p:txBody>
      </p:sp>
      <p:sp>
        <p:nvSpPr>
          <p:cNvPr id="12" name="Num 4"/>
          <p:cNvSpPr/>
          <p:nvPr/>
        </p:nvSpPr>
        <p:spPr>
          <a:xfrm>
            <a:off x="457200" y="3017520"/>
            <a:ext cx="384048" cy="384048"/>
          </a:xfrm>
          <a:prstGeom prst="ellipse">
            <a:avLst/>
          </a:prstGeom>
          <a:solidFill>
            <a:srgbClr val="1F4D2B"/>
          </a:solidFill>
          <a:ln/>
        </p:spPr>
      </p:sp>
      <p:sp>
        <p:nvSpPr>
          <p:cNvPr id="13" name="Text 11"/>
          <p:cNvSpPr txBox="1"/>
          <p:nvPr/>
        </p:nvSpPr>
        <p:spPr>
          <a:xfrm>
            <a:off x="457200" y="301752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14" name="Text 12"/>
          <p:cNvSpPr txBox="1"/>
          <p:nvPr/>
        </p:nvSpPr>
        <p:spPr>
          <a:xfrm>
            <a:off x="1005840" y="2971800"/>
            <a:ext cx="4114800" cy="502920"/>
          </a:xfrm>
          <a:prstGeom prst="rect">
            <a:avLst/>
          </a:prstGeom>
          <a:noFill/>
          <a:ln/>
        </p:spPr>
        <p:txBody>
          <a:bodyPr wrap="square" lIns="0" tIns="0" rIns="0" bIns="0" rtlCol="0" anchor="ctr"/>
          <a:lstStyle/>
          <a:p>
            <a:pPr marL="0" indent="0">
              <a:buNone/>
            </a:pPr>
            <a:r>
              <a:rPr lang="en-US" sz="1400" dirty="0">
                <a:solidFill>
                  <a:srgbClr val="1E2A22"/>
                </a:solidFill>
                <a:latin typeface="Calibri" pitchFamily="34" charset="0"/>
                <a:ea typeface="Calibri" pitchFamily="34" charset="-122"/>
                <a:cs typeface="Calibri" pitchFamily="34" charset="-120"/>
              </a:rPr>
              <a:t>Forecast daily demand with holdout validation</a:t>
            </a:r>
            <a:endParaRPr lang="en-US" sz="1400" dirty="0"/>
          </a:p>
        </p:txBody>
      </p:sp>
      <p:sp>
        <p:nvSpPr>
          <p:cNvPr id="15" name="Num 5"/>
          <p:cNvSpPr/>
          <p:nvPr/>
        </p:nvSpPr>
        <p:spPr>
          <a:xfrm>
            <a:off x="457200" y="3657600"/>
            <a:ext cx="384048" cy="384048"/>
          </a:xfrm>
          <a:prstGeom prst="ellipse">
            <a:avLst/>
          </a:prstGeom>
          <a:solidFill>
            <a:srgbClr val="1F4D2B"/>
          </a:solidFill>
          <a:ln/>
        </p:spPr>
      </p:sp>
      <p:sp>
        <p:nvSpPr>
          <p:cNvPr id="16" name="Text 14"/>
          <p:cNvSpPr txBox="1"/>
          <p:nvPr/>
        </p:nvSpPr>
        <p:spPr>
          <a:xfrm>
            <a:off x="457200" y="365760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p:txBody>
      </p:sp>
      <p:sp>
        <p:nvSpPr>
          <p:cNvPr id="17" name="Text 15"/>
          <p:cNvSpPr txBox="1"/>
          <p:nvPr/>
        </p:nvSpPr>
        <p:spPr>
          <a:xfrm>
            <a:off x="1005840" y="3611880"/>
            <a:ext cx="4114800" cy="502920"/>
          </a:xfrm>
          <a:prstGeom prst="rect">
            <a:avLst/>
          </a:prstGeom>
          <a:noFill/>
          <a:ln/>
        </p:spPr>
        <p:txBody>
          <a:bodyPr wrap="square" lIns="0" tIns="0" rIns="0" bIns="0" rtlCol="0" anchor="ctr"/>
          <a:lstStyle/>
          <a:p>
            <a:pPr marL="0" indent="0">
              <a:buNone/>
            </a:pPr>
            <a:r>
              <a:rPr lang="en-US" sz="1400" dirty="0">
                <a:solidFill>
                  <a:srgbClr val="1E2A22"/>
                </a:solidFill>
                <a:latin typeface="Calibri" pitchFamily="34" charset="0"/>
                <a:ea typeface="Calibri" pitchFamily="34" charset="-122"/>
                <a:cs typeface="Calibri" pitchFamily="34" charset="-120"/>
              </a:rPr>
              <a:t>Deliver all of this in an interactive R Shiny dashboard</a:t>
            </a:r>
            <a:endParaRPr lang="en-US" sz="1400" dirty="0"/>
          </a:p>
        </p:txBody>
      </p:sp>
      <p:sp>
        <p:nvSpPr>
          <p:cNvPr id="18" name="Scope card"/>
          <p:cNvSpPr/>
          <p:nvPr/>
        </p:nvSpPr>
        <p:spPr>
          <a:xfrm>
            <a:off x="5440680" y="1097280"/>
            <a:ext cx="3246120" cy="3429000"/>
          </a:xfrm>
          <a:prstGeom prst="rect">
            <a:avLst/>
          </a:prstGeom>
          <a:solidFill>
            <a:srgbClr val="FFFFFF"/>
          </a:solidFill>
          <a:ln w="9525">
            <a:solidFill>
              <a:srgbClr val="C9D6CC"/>
            </a:solidFill>
            <a:prstDash val="solid"/>
          </a:ln>
        </p:spPr>
      </p:sp>
      <p:sp>
        <p:nvSpPr>
          <p:cNvPr id="19" name="Text 17"/>
          <p:cNvSpPr txBox="1"/>
          <p:nvPr/>
        </p:nvSpPr>
        <p:spPr>
          <a:xfrm>
            <a:off x="5623560" y="1188720"/>
            <a:ext cx="2926080" cy="274320"/>
          </a:xfrm>
          <a:prstGeom prst="rect">
            <a:avLst/>
          </a:prstGeom>
          <a:noFill/>
          <a:ln/>
        </p:spPr>
        <p:txBody>
          <a:bodyPr wrap="square" lIns="0" tIns="0" rIns="0" bIns="0" rtlCol="0" anchor="ctr"/>
          <a:lstStyle/>
          <a:p>
            <a:pPr marL="0" indent="0">
              <a:buNone/>
            </a:pPr>
            <a:r>
              <a:rPr lang="en-US" sz="1500" b="1" dirty="0">
                <a:solidFill>
                  <a:srgbClr val="1F4D2B"/>
                </a:solidFill>
                <a:latin typeface="Georgia" pitchFamily="34" charset="0"/>
                <a:ea typeface="Georgia" pitchFamily="34" charset="-122"/>
                <a:cs typeface="Georgia" pitchFamily="34" charset="-120"/>
              </a:rPr>
              <a:t>Scope</a:t>
            </a:r>
            <a:endParaRPr lang="en-US" sz="1500" dirty="0"/>
          </a:p>
        </p:txBody>
      </p:sp>
      <p:sp>
        <p:nvSpPr>
          <p:cNvPr id="20" name="Text 18"/>
          <p:cNvSpPr txBox="1"/>
          <p:nvPr/>
        </p:nvSpPr>
        <p:spPr>
          <a:xfrm>
            <a:off x="5623560" y="1554480"/>
            <a:ext cx="2926080" cy="2834640"/>
          </a:xfrm>
          <a:prstGeom prst="rect">
            <a:avLst/>
          </a:prstGeom>
          <a:noFill/>
          <a:ln/>
        </p:spPr>
        <p:txBody>
          <a:bodyPr wrap="square" lIns="0" tIns="0" rIns="0" bIns="0" rtlCol="0" anchor="t"/>
          <a:lstStyle/>
          <a:p>
            <a:pPr marL="0" indent="0">
              <a:spcAft>
                <a:spcPts val="800"/>
              </a:spcAft>
              <a:buNone/>
            </a:pPr>
            <a:r>
              <a:rPr lang="en-US" sz="1250" b="1" dirty="0">
                <a:solidFill>
                  <a:srgbClr val="1E2A22"/>
                </a:solidFill>
                <a:latin typeface="Calibri" pitchFamily="34" charset="0"/>
                <a:ea typeface="Calibri" pitchFamily="34" charset="-122"/>
                <a:cs typeface="Calibri" pitchFamily="34" charset="-120"/>
              </a:rPr>
              <a:t>Geography: </a:t>
            </a:r>
            <a:r>
              <a:rPr lang="en-US" sz="1250" dirty="0">
                <a:solidFill>
                  <a:srgbClr val="1E2A22"/>
                </a:solidFill>
                <a:latin typeface="Calibri" pitchFamily="34" charset="0"/>
                <a:ea typeface="Calibri" pitchFamily="34" charset="-122"/>
                <a:cs typeface="Calibri" pitchFamily="34" charset="-120"/>
              </a:rPr>
              <a:t>India, five regional grids combined</a:t>
            </a:r>
            <a:endParaRPr lang="en-US" sz="1250" dirty="0"/>
          </a:p>
          <a:p>
            <a:pPr marL="0" indent="0">
              <a:spcAft>
                <a:spcPts val="800"/>
              </a:spcAft>
              <a:buNone/>
            </a:pPr>
            <a:r>
              <a:rPr lang="en-US" sz="1250" b="1" dirty="0">
                <a:solidFill>
                  <a:srgbClr val="1E2A22"/>
                </a:solidFill>
                <a:latin typeface="Calibri" pitchFamily="34" charset="0"/>
                <a:ea typeface="Calibri" pitchFamily="34" charset="-122"/>
                <a:cs typeface="Calibri" pitchFamily="34" charset="-120"/>
              </a:rPr>
              <a:t>Dashboard coverage: </a:t>
            </a:r>
            <a:r>
              <a:rPr lang="en-US" sz="1250" dirty="0">
                <a:solidFill>
                  <a:srgbClr val="1E2A22"/>
                </a:solidFill>
                <a:latin typeface="Calibri" pitchFamily="34" charset="0"/>
                <a:ea typeface="Calibri" pitchFamily="34" charset="-122"/>
                <a:cs typeface="Calibri" pitchFamily="34" charset="-120"/>
              </a:rPr>
              <a:t>Jan 2024 – Jun 2025, hourly</a:t>
            </a:r>
            <a:endParaRPr lang="en-US" sz="1250" dirty="0"/>
          </a:p>
          <a:p>
            <a:pPr marL="0" indent="0">
              <a:spcAft>
                <a:spcPts val="800"/>
              </a:spcAft>
              <a:buNone/>
            </a:pPr>
            <a:r>
              <a:rPr lang="en-US" sz="1250" b="1" dirty="0">
                <a:solidFill>
                  <a:srgbClr val="1E2A22"/>
                </a:solidFill>
                <a:latin typeface="Calibri" pitchFamily="34" charset="0"/>
                <a:ea typeface="Calibri" pitchFamily="34" charset="-122"/>
                <a:cs typeface="Calibri" pitchFamily="34" charset="-120"/>
              </a:rPr>
              <a:t>Screenshots shown: </a:t>
            </a:r>
            <a:r>
              <a:rPr lang="en-US" sz="1250" dirty="0">
                <a:solidFill>
                  <a:srgbClr val="1E2A22"/>
                </a:solidFill>
                <a:latin typeface="Calibri" pitchFamily="34" charset="0"/>
                <a:ea typeface="Calibri" pitchFamily="34" charset="-122"/>
                <a:cs typeface="Calibri" pitchFamily="34" charset="-120"/>
              </a:rPr>
              <a:t>25 May – 24 Jun 2025, weekends only (9 days)</a:t>
            </a:r>
            <a:endParaRPr lang="en-US" sz="1250" dirty="0"/>
          </a:p>
          <a:p>
            <a:pPr marL="0" indent="0">
              <a:spcAft>
                <a:spcPts val="800"/>
              </a:spcAft>
              <a:buNone/>
            </a:pPr>
            <a:r>
              <a:rPr lang="en-US" sz="1250" b="1" dirty="0">
                <a:solidFill>
                  <a:srgbClr val="1E2A22"/>
                </a:solidFill>
                <a:latin typeface="Calibri" pitchFamily="34" charset="0"/>
                <a:ea typeface="Calibri" pitchFamily="34" charset="-122"/>
                <a:cs typeface="Calibri" pitchFamily="34" charset="-120"/>
              </a:rPr>
              <a:t>Not included: </a:t>
            </a:r>
            <a:r>
              <a:rPr lang="en-US" sz="1250" dirty="0">
                <a:solidFill>
                  <a:srgbClr val="1E2A22"/>
                </a:solidFill>
                <a:latin typeface="Calibri" pitchFamily="34" charset="0"/>
                <a:ea typeface="Calibri" pitchFamily="34" charset="-122"/>
                <a:cs typeface="Calibri" pitchFamily="34" charset="-120"/>
              </a:rPr>
              <a:t>weather, plant-level, installed-capacity or storage data</a:t>
            </a:r>
            <a:endParaRPr lang="en-US" sz="1250" dirty="0"/>
          </a:p>
        </p:txBody>
      </p:sp>
      <p:sp>
        <p:nvSpPr>
          <p:cNvPr id="21" name="Slide Number Placeholder 20">
            <a:extLst>
              <a:ext uri="{FF2B5EF4-FFF2-40B4-BE49-F238E27FC236}">
                <a16:creationId xmlns:a16="http://schemas.microsoft.com/office/drawing/2014/main" id="{3B74EB76-0B7B-1A7F-FC88-764A20CF5705}"/>
              </a:ext>
            </a:extLst>
          </p:cNvPr>
          <p:cNvSpPr>
            <a:spLocks noGrp="1"/>
          </p:cNvSpPr>
          <p:nvPr>
            <p:ph type="sldNum" sz="quarter" idx="4294967295"/>
          </p:nvPr>
        </p:nvSpPr>
        <p:spPr/>
        <p:txBody>
          <a:bodyPr/>
          <a:lstStyle/>
          <a:p>
            <a:pPr algn="r"/>
            <a:fld id="{F7021451-1387-4CA6-816F-3879F97B5CBC}" type="slidenum">
              <a:rPr lang="en-US" b="0"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Dataset and data preparation</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051560"/>
          <a:ext cx="4846320" cy="2194560"/>
        </p:xfrm>
        <a:graphic>
          <a:graphicData uri="http://schemas.openxmlformats.org/drawingml/2006/table">
            <a:tbl>
              <a:tblPr/>
              <a:tblGrid>
                <a:gridCol w="1554480">
                  <a:extLst>
                    <a:ext uri="{9D8B030D-6E8A-4147-A177-3AD203B41FA5}">
                      <a16:colId xmlns:a16="http://schemas.microsoft.com/office/drawing/2014/main" val="20000"/>
                    </a:ext>
                  </a:extLst>
                </a:gridCol>
                <a:gridCol w="640080">
                  <a:extLst>
                    <a:ext uri="{9D8B030D-6E8A-4147-A177-3AD203B41FA5}">
                      <a16:colId xmlns:a16="http://schemas.microsoft.com/office/drawing/2014/main" val="20001"/>
                    </a:ext>
                  </a:extLst>
                </a:gridCol>
                <a:gridCol w="2651760">
                  <a:extLst>
                    <a:ext uri="{9D8B030D-6E8A-4147-A177-3AD203B41FA5}">
                      <a16:colId xmlns:a16="http://schemas.microsoft.com/office/drawing/2014/main" val="20002"/>
                    </a:ext>
                  </a:extLst>
                </a:gridCol>
              </a:tblGrid>
              <a:tr h="274320">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Field</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1F4D2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Unit</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1F4D2B"/>
                    </a:solidFill>
                  </a:tcPr>
                </a:tc>
                <a:tc>
                  <a:txBody>
                    <a:bodyPr/>
                    <a:lstStyle/>
                    <a:p>
                      <a:pPr marL="0" indent="0">
                        <a:buNone/>
                      </a:pPr>
                      <a:r>
                        <a:rPr lang="en-US" sz="1100" b="1" dirty="0">
                          <a:solidFill>
                            <a:srgbClr val="FFFFFF"/>
                          </a:solidFill>
                          <a:latin typeface="Calibri" pitchFamily="34" charset="0"/>
                          <a:ea typeface="Calibri" pitchFamily="34" charset="-122"/>
                          <a:cs typeface="Calibri" pitchFamily="34" charset="-120"/>
                        </a:rPr>
                        <a:t>Meaning</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1F4D2B"/>
                    </a:solidFill>
                  </a:tcPr>
                </a:tc>
                <a:extLst>
                  <a:ext uri="{0D108BD9-81ED-4DB2-BD59-A6C34878D82A}">
                    <a16:rowId xmlns:a16="http://schemas.microsoft.com/office/drawing/2014/main" val="10000"/>
                  </a:ext>
                </a:extLst>
              </a:tr>
              <a:tr h="274320">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TIMESTAMP</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hourly</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Date and hour (IST)</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74320">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DEMAND_GW</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GW</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National electricity demand</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74320">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SOLAR_GW / WIND_GW</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GW</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Solar / wind generation</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74320">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RENEWABLE_GW</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GW</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Solar + wind</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74320">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RE_SHARE</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Renewable ÷ demand × 100</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74320">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NET_DEMAND_GW</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GW</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Demand − renewable</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74320">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NET_RAMP_GW</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GW/h</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tc>
                  <a:txBody>
                    <a:bodyPr/>
                    <a:lstStyle/>
                    <a:p>
                      <a:pPr marL="0" indent="0">
                        <a:buNone/>
                      </a:pPr>
                      <a:r>
                        <a:rPr lang="en-US" sz="1100" dirty="0">
                          <a:solidFill>
                            <a:srgbClr val="1E2A22"/>
                          </a:solidFill>
                          <a:latin typeface="Calibri" pitchFamily="34" charset="0"/>
                          <a:ea typeface="Calibri" pitchFamily="34" charset="-122"/>
                          <a:cs typeface="Calibri" pitchFamily="34" charset="-120"/>
                        </a:rPr>
                        <a:t>Hour-to-hour change in net demand</a:t>
                      </a:r>
                      <a:endParaRPr lang="en-US" sz="1100" dirty="0">
                        <a:latin typeface="Calibri" charset="0"/>
                        <a:ea typeface="Calibri" charset="0"/>
                        <a:cs typeface="Calibri" charset="0"/>
                      </a:endParaRPr>
                    </a:p>
                  </a:txBody>
                  <a:tcPr marL="64008" marR="64008" marT="27432" marB="27432" anchor="ctr">
                    <a:lnL w="9525" cap="flat" cmpd="sng" algn="ctr">
                      <a:solidFill>
                        <a:srgbClr val="C9D6CC"/>
                      </a:solidFill>
                      <a:prstDash val="solid"/>
                      <a:round/>
                      <a:headEnd type="none" w="med" len="med"/>
                      <a:tailEnd type="none" w="med" len="med"/>
                    </a:lnL>
                    <a:lnR w="9525" cap="flat" cmpd="sng" algn="ctr">
                      <a:solidFill>
                        <a:srgbClr val="C9D6CC"/>
                      </a:solidFill>
                      <a:prstDash val="solid"/>
                      <a:round/>
                      <a:headEnd type="none" w="med" len="med"/>
                      <a:tailEnd type="none" w="med" len="med"/>
                    </a:lnR>
                    <a:lnT w="9525" cap="flat" cmpd="sng" algn="ctr">
                      <a:solidFill>
                        <a:srgbClr val="C9D6CC"/>
                      </a:solidFill>
                      <a:prstDash val="solid"/>
                      <a:round/>
                      <a:headEnd type="none" w="med" len="med"/>
                      <a:tailEnd type="none" w="med" len="med"/>
                    </a:lnT>
                    <a:lnB w="9525" cap="flat" cmpd="sng" algn="ctr">
                      <a:solidFill>
                        <a:srgbClr val="C9D6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4" name="Text 1"/>
          <p:cNvSpPr txBox="1"/>
          <p:nvPr/>
        </p:nvSpPr>
        <p:spPr>
          <a:xfrm>
            <a:off x="457200" y="3383280"/>
            <a:ext cx="4846320" cy="457200"/>
          </a:xfrm>
          <a:prstGeom prst="rect">
            <a:avLst/>
          </a:prstGeom>
          <a:noFill/>
          <a:ln/>
        </p:spPr>
        <p:txBody>
          <a:bodyPr wrap="square" lIns="0" tIns="0" rIns="0" bIns="0" rtlCol="0" anchor="ctr"/>
          <a:lstStyle/>
          <a:p>
            <a:pPr marL="0" indent="0">
              <a:buNone/>
            </a:pPr>
            <a:r>
              <a:rPr lang="en-US" sz="1100" dirty="0">
                <a:solidFill>
                  <a:srgbClr val="5B6B60"/>
                </a:solidFill>
                <a:latin typeface="Calibri" pitchFamily="34" charset="0"/>
                <a:ea typeface="Calibri" pitchFamily="34" charset="-122"/>
                <a:cs typeface="Calibri" pitchFamily="34" charset="-120"/>
              </a:rPr>
              <a:t>Source: Grid-India (NERLDC), Ministry of Power. Combined five regional grids. Hourly data; dashboard coverage Jan 2024 – Jun 2025.</a:t>
            </a:r>
            <a:endParaRPr lang="en-US" sz="1100" dirty="0"/>
          </a:p>
        </p:txBody>
      </p:sp>
      <p:sp>
        <p:nvSpPr>
          <p:cNvPr id="3" name="Text 2"/>
          <p:cNvSpPr txBox="1"/>
          <p:nvPr/>
        </p:nvSpPr>
        <p:spPr>
          <a:xfrm>
            <a:off x="5623560" y="1005840"/>
            <a:ext cx="3017520" cy="274320"/>
          </a:xfrm>
          <a:prstGeom prst="rect">
            <a:avLst/>
          </a:prstGeom>
          <a:noFill/>
          <a:ln/>
        </p:spPr>
        <p:txBody>
          <a:bodyPr wrap="square" lIns="0" tIns="0" rIns="0" bIns="0" rtlCol="0" anchor="ctr"/>
          <a:lstStyle/>
          <a:p>
            <a:pPr marL="0" indent="0">
              <a:buNone/>
            </a:pPr>
            <a:r>
              <a:rPr lang="en-US" sz="1500" b="1" dirty="0">
                <a:solidFill>
                  <a:srgbClr val="1F4D2B"/>
                </a:solidFill>
                <a:latin typeface="Georgia" pitchFamily="34" charset="0"/>
                <a:ea typeface="Georgia" pitchFamily="34" charset="-122"/>
                <a:cs typeface="Georgia" pitchFamily="34" charset="-120"/>
              </a:rPr>
              <a:t>Preparation in R</a:t>
            </a:r>
            <a:endParaRPr lang="en-US" sz="1500" dirty="0"/>
          </a:p>
        </p:txBody>
      </p:sp>
      <p:sp>
        <p:nvSpPr>
          <p:cNvPr id="6" name="Step 1"/>
          <p:cNvSpPr/>
          <p:nvPr/>
        </p:nvSpPr>
        <p:spPr>
          <a:xfrm>
            <a:off x="5623560" y="1371600"/>
            <a:ext cx="3063240" cy="457200"/>
          </a:xfrm>
          <a:prstGeom prst="roundRect">
            <a:avLst>
              <a:gd name="adj" fmla="val 12000"/>
            </a:avLst>
          </a:prstGeom>
          <a:solidFill>
            <a:srgbClr val="FFFFFF"/>
          </a:solidFill>
          <a:ln w="9525">
            <a:solidFill>
              <a:srgbClr val="C9D6CC"/>
            </a:solidFill>
            <a:prstDash val="solid"/>
          </a:ln>
        </p:spPr>
      </p:sp>
      <p:sp>
        <p:nvSpPr>
          <p:cNvPr id="7" name="Text 4"/>
          <p:cNvSpPr txBox="1"/>
          <p:nvPr/>
        </p:nvSpPr>
        <p:spPr>
          <a:xfrm>
            <a:off x="5715000" y="1371600"/>
            <a:ext cx="2880360" cy="457200"/>
          </a:xfrm>
          <a:prstGeom prst="rect">
            <a:avLst/>
          </a:prstGeom>
          <a:noFill/>
          <a:ln/>
        </p:spPr>
        <p:txBody>
          <a:bodyPr wrap="square" lIns="0" tIns="0" rIns="0" bIns="0" rtlCol="0" anchor="ctr"/>
          <a:lstStyle/>
          <a:p>
            <a:pPr marL="0" indent="0">
              <a:buNone/>
            </a:pPr>
            <a:r>
              <a:rPr lang="en-US" sz="1150" dirty="0">
                <a:solidFill>
                  <a:srgbClr val="1E2A22"/>
                </a:solidFill>
                <a:latin typeface="Calibri" pitchFamily="34" charset="0"/>
                <a:ea typeface="Calibri" pitchFamily="34" charset="-122"/>
                <a:cs typeface="Calibri" pitchFamily="34" charset="-120"/>
              </a:rPr>
              <a:t>Load hourly records</a:t>
            </a:r>
            <a:endParaRPr lang="en-US" sz="1150" dirty="0"/>
          </a:p>
        </p:txBody>
      </p:sp>
      <p:sp>
        <p:nvSpPr>
          <p:cNvPr id="8" name="Step 2"/>
          <p:cNvSpPr/>
          <p:nvPr/>
        </p:nvSpPr>
        <p:spPr>
          <a:xfrm>
            <a:off x="5623560" y="1938528"/>
            <a:ext cx="3063240" cy="457200"/>
          </a:xfrm>
          <a:prstGeom prst="roundRect">
            <a:avLst>
              <a:gd name="adj" fmla="val 12000"/>
            </a:avLst>
          </a:prstGeom>
          <a:solidFill>
            <a:srgbClr val="E3EDE4"/>
          </a:solidFill>
          <a:ln w="9525">
            <a:solidFill>
              <a:srgbClr val="C9D6CC"/>
            </a:solidFill>
            <a:prstDash val="solid"/>
          </a:ln>
        </p:spPr>
      </p:sp>
      <p:sp>
        <p:nvSpPr>
          <p:cNvPr id="9" name="Text 6"/>
          <p:cNvSpPr txBox="1"/>
          <p:nvPr/>
        </p:nvSpPr>
        <p:spPr>
          <a:xfrm>
            <a:off x="5715000" y="1938528"/>
            <a:ext cx="2880360" cy="457200"/>
          </a:xfrm>
          <a:prstGeom prst="rect">
            <a:avLst/>
          </a:prstGeom>
          <a:noFill/>
          <a:ln/>
        </p:spPr>
        <p:txBody>
          <a:bodyPr wrap="square" lIns="0" tIns="0" rIns="0" bIns="0" rtlCol="0" anchor="ctr"/>
          <a:lstStyle/>
          <a:p>
            <a:pPr marL="0" indent="0">
              <a:buNone/>
            </a:pPr>
            <a:r>
              <a:rPr lang="en-US" sz="1150" dirty="0">
                <a:solidFill>
                  <a:srgbClr val="1E2A22"/>
                </a:solidFill>
                <a:latin typeface="Calibri" pitchFamily="34" charset="0"/>
                <a:ea typeface="Calibri" pitchFamily="34" charset="-122"/>
                <a:cs typeface="Calibri" pitchFamily="34" charset="-120"/>
              </a:rPr>
              <a:t>Parse timestamps, convert MW to GW</a:t>
            </a:r>
            <a:endParaRPr lang="en-US" sz="1150" dirty="0"/>
          </a:p>
        </p:txBody>
      </p:sp>
      <p:sp>
        <p:nvSpPr>
          <p:cNvPr id="10" name="Step 3"/>
          <p:cNvSpPr/>
          <p:nvPr/>
        </p:nvSpPr>
        <p:spPr>
          <a:xfrm>
            <a:off x="5623560" y="2505456"/>
            <a:ext cx="3063240" cy="457200"/>
          </a:xfrm>
          <a:prstGeom prst="roundRect">
            <a:avLst>
              <a:gd name="adj" fmla="val 12000"/>
            </a:avLst>
          </a:prstGeom>
          <a:solidFill>
            <a:srgbClr val="FFFFFF"/>
          </a:solidFill>
          <a:ln w="9525">
            <a:solidFill>
              <a:srgbClr val="C9D6CC"/>
            </a:solidFill>
            <a:prstDash val="solid"/>
          </a:ln>
        </p:spPr>
      </p:sp>
      <p:sp>
        <p:nvSpPr>
          <p:cNvPr id="11" name="Text 8"/>
          <p:cNvSpPr txBox="1"/>
          <p:nvPr/>
        </p:nvSpPr>
        <p:spPr>
          <a:xfrm>
            <a:off x="5715000" y="2505456"/>
            <a:ext cx="2880360" cy="457200"/>
          </a:xfrm>
          <a:prstGeom prst="rect">
            <a:avLst/>
          </a:prstGeom>
          <a:noFill/>
          <a:ln/>
        </p:spPr>
        <p:txBody>
          <a:bodyPr wrap="square" lIns="0" tIns="0" rIns="0" bIns="0" rtlCol="0" anchor="ctr"/>
          <a:lstStyle/>
          <a:p>
            <a:pPr marL="0" indent="0">
              <a:buNone/>
            </a:pPr>
            <a:r>
              <a:rPr lang="en-US" sz="1150" dirty="0">
                <a:solidFill>
                  <a:srgbClr val="1E2A22"/>
                </a:solidFill>
                <a:latin typeface="Calibri" pitchFamily="34" charset="0"/>
                <a:ea typeface="Calibri" pitchFamily="34" charset="-122"/>
                <a:cs typeface="Calibri" pitchFamily="34" charset="-120"/>
              </a:rPr>
              <a:t>Derive renewable, share, residual demand, ramp</a:t>
            </a:r>
            <a:endParaRPr lang="en-US" sz="1150" dirty="0"/>
          </a:p>
        </p:txBody>
      </p:sp>
      <p:sp>
        <p:nvSpPr>
          <p:cNvPr id="12" name="Step 4"/>
          <p:cNvSpPr/>
          <p:nvPr/>
        </p:nvSpPr>
        <p:spPr>
          <a:xfrm>
            <a:off x="5623560" y="3072384"/>
            <a:ext cx="3063240" cy="457200"/>
          </a:xfrm>
          <a:prstGeom prst="roundRect">
            <a:avLst>
              <a:gd name="adj" fmla="val 12000"/>
            </a:avLst>
          </a:prstGeom>
          <a:solidFill>
            <a:srgbClr val="E3EDE4"/>
          </a:solidFill>
          <a:ln w="9525">
            <a:solidFill>
              <a:srgbClr val="C9D6CC"/>
            </a:solidFill>
            <a:prstDash val="solid"/>
          </a:ln>
        </p:spPr>
      </p:sp>
      <p:sp>
        <p:nvSpPr>
          <p:cNvPr id="13" name="Text 10"/>
          <p:cNvSpPr txBox="1"/>
          <p:nvPr/>
        </p:nvSpPr>
        <p:spPr>
          <a:xfrm>
            <a:off x="5715000" y="3072384"/>
            <a:ext cx="2880360" cy="457200"/>
          </a:xfrm>
          <a:prstGeom prst="rect">
            <a:avLst/>
          </a:prstGeom>
          <a:noFill/>
          <a:ln/>
        </p:spPr>
        <p:txBody>
          <a:bodyPr wrap="square" lIns="0" tIns="0" rIns="0" bIns="0" rtlCol="0" anchor="ctr"/>
          <a:lstStyle/>
          <a:p>
            <a:pPr marL="0" indent="0">
              <a:buNone/>
            </a:pPr>
            <a:r>
              <a:rPr lang="en-US" sz="1150" dirty="0">
                <a:solidFill>
                  <a:srgbClr val="1E2A22"/>
                </a:solidFill>
                <a:latin typeface="Calibri" pitchFamily="34" charset="0"/>
                <a:ea typeface="Calibri" pitchFamily="34" charset="-122"/>
                <a:cs typeface="Calibri" pitchFamily="34" charset="-120"/>
              </a:rPr>
              <a:t>Add season and day-type labels for filters</a:t>
            </a:r>
            <a:endParaRPr lang="en-US" sz="1150" dirty="0"/>
          </a:p>
        </p:txBody>
      </p:sp>
      <p:sp>
        <p:nvSpPr>
          <p:cNvPr id="14" name="Text 11"/>
          <p:cNvSpPr txBox="1"/>
          <p:nvPr/>
        </p:nvSpPr>
        <p:spPr>
          <a:xfrm>
            <a:off x="5623560" y="3703320"/>
            <a:ext cx="3063240" cy="292608"/>
          </a:xfrm>
          <a:prstGeom prst="rect">
            <a:avLst/>
          </a:prstGeom>
          <a:solidFill>
            <a:srgbClr val="FFE9A3"/>
          </a:solidFill>
          <a:ln/>
        </p:spPr>
        <p:txBody>
          <a:bodyPr wrap="square" lIns="25400" tIns="25400" rIns="25400" bIns="25400" rtlCol="0" anchor="ctr"/>
          <a:lstStyle/>
          <a:p>
            <a:pPr marL="0" indent="0" algn="ctr">
              <a:buNone/>
            </a:pPr>
            <a:r>
              <a:rPr lang="en-US" sz="1000" dirty="0">
                <a:solidFill>
                  <a:srgbClr val="5A4300"/>
                </a:solidFill>
                <a:latin typeface="Calibri" pitchFamily="34" charset="0"/>
                <a:ea typeface="Calibri" pitchFamily="34" charset="-122"/>
                <a:cs typeface="Calibri" pitchFamily="34" charset="-120"/>
              </a:rPr>
              <a:t>[Confirm: record count and cleaning steps from R script]</a:t>
            </a:r>
            <a:endParaRPr lang="en-US" sz="1000" dirty="0"/>
          </a:p>
        </p:txBody>
      </p:sp>
      <p:sp>
        <p:nvSpPr>
          <p:cNvPr id="15" name="Text 12"/>
          <p:cNvSpPr txBox="1"/>
          <p:nvPr/>
        </p:nvSpPr>
        <p:spPr>
          <a:xfrm>
            <a:off x="457200" y="4160520"/>
            <a:ext cx="8229600" cy="457200"/>
          </a:xfrm>
          <a:prstGeom prst="rect">
            <a:avLst/>
          </a:prstGeom>
          <a:noFill/>
          <a:ln/>
        </p:spPr>
        <p:txBody>
          <a:bodyPr wrap="square" lIns="0" tIns="0" rIns="0" bIns="0" rtlCol="0" anchor="t"/>
          <a:lstStyle/>
          <a:p>
            <a:pPr marL="0" indent="0">
              <a:buNone/>
            </a:pPr>
            <a:r>
              <a:rPr lang="en-US" sz="1000" dirty="0">
                <a:solidFill>
                  <a:srgbClr val="5B6B60"/>
                </a:solidFill>
                <a:latin typeface="Calibri" pitchFamily="34" charset="0"/>
                <a:ea typeface="Calibri" pitchFamily="34" charset="-122"/>
                <a:cs typeface="Calibri" pitchFamily="34" charset="-120"/>
              </a:rPr>
              <a:t>Dataset: Mukherjee, D., Kalita, K., &amp; Kumar, S. (2025). Electricity demand, solar and wind generation data (September 2021–June 2025) of India at 1-hour interval (Version 2) [Data set]. Mendeley Data. https://doi.org/10.17632/y58jknpgs8.2</a:t>
            </a:r>
            <a:endParaRPr lang="en-US" sz="1000" dirty="0"/>
          </a:p>
        </p:txBody>
      </p:sp>
      <p:sp>
        <p:nvSpPr>
          <p:cNvPr id="24" name="Slide Number Placeholder 23">
            <a:extLst>
              <a:ext uri="{FF2B5EF4-FFF2-40B4-BE49-F238E27FC236}">
                <a16:creationId xmlns:a16="http://schemas.microsoft.com/office/drawing/2014/main" id="{58DD8C73-AD9D-017B-761A-F527399C6B59}"/>
              </a:ext>
            </a:extLst>
          </p:cNvPr>
          <p:cNvSpPr>
            <a:spLocks noGrp="1"/>
          </p:cNvSpPr>
          <p:nvPr>
            <p:ph type="sldNum" sz="quarter" idx="4294967295"/>
          </p:nvPr>
        </p:nvSpPr>
        <p:spPr/>
        <p:txBody>
          <a:bodyPr/>
          <a:lstStyle/>
          <a:p>
            <a:pPr algn="r"/>
            <a:fld id="{F7021451-1387-4CA6-816F-3879F97B5CBC}" type="slidenum">
              <a:rPr lang="en-US" b="0" smtClean="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Technology stack and methodology</a:t>
            </a:r>
            <a:endParaRPr lang="en-US" sz="2600" dirty="0"/>
          </a:p>
        </p:txBody>
      </p:sp>
      <p:sp>
        <p:nvSpPr>
          <p:cNvPr id="3" name="Flow 1"/>
          <p:cNvSpPr/>
          <p:nvPr/>
        </p:nvSpPr>
        <p:spPr>
          <a:xfrm>
            <a:off x="457200" y="1097280"/>
            <a:ext cx="1078992" cy="868680"/>
          </a:xfrm>
          <a:prstGeom prst="roundRect">
            <a:avLst>
              <a:gd name="adj" fmla="val 6316"/>
            </a:avLst>
          </a:prstGeom>
          <a:solidFill>
            <a:srgbClr val="1F4D2B"/>
          </a:solidFill>
          <a:ln/>
        </p:spPr>
      </p:sp>
      <p:sp>
        <p:nvSpPr>
          <p:cNvPr id="4" name="Text 2"/>
          <p:cNvSpPr txBox="1"/>
          <p:nvPr/>
        </p:nvSpPr>
        <p:spPr>
          <a:xfrm>
            <a:off x="457200" y="1097280"/>
            <a:ext cx="1078992" cy="868680"/>
          </a:xfrm>
          <a:prstGeom prst="rect">
            <a:avLst/>
          </a:prstGeom>
          <a:noFill/>
          <a:ln/>
        </p:spPr>
        <p:txBody>
          <a:bodyPr wrap="square" lIns="38100" tIns="38100" rIns="38100" bIns="3810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a:p>
            <a:pPr marL="0" indent="0" algn="ctr">
              <a:buNone/>
            </a:pPr>
            <a:r>
              <a:rPr lang="en-US" sz="1100" b="1" dirty="0">
                <a:solidFill>
                  <a:srgbClr val="FFFFFF"/>
                </a:solidFill>
                <a:latin typeface="Calibri" pitchFamily="34" charset="0"/>
                <a:ea typeface="Calibri" pitchFamily="34" charset="-122"/>
                <a:cs typeface="Calibri" pitchFamily="34" charset="-120"/>
              </a:rPr>
              <a:t>Data acquisition</a:t>
            </a:r>
            <a:endParaRPr lang="en-US" sz="1400" dirty="0"/>
          </a:p>
        </p:txBody>
      </p:sp>
      <p:sp>
        <p:nvSpPr>
          <p:cNvPr id="5" name="Flow 2"/>
          <p:cNvSpPr/>
          <p:nvPr/>
        </p:nvSpPr>
        <p:spPr>
          <a:xfrm>
            <a:off x="1645920" y="1097280"/>
            <a:ext cx="1078992" cy="868680"/>
          </a:xfrm>
          <a:prstGeom prst="roundRect">
            <a:avLst>
              <a:gd name="adj" fmla="val 6316"/>
            </a:avLst>
          </a:prstGeom>
          <a:solidFill>
            <a:srgbClr val="2E7D4F"/>
          </a:solidFill>
          <a:ln/>
        </p:spPr>
      </p:sp>
      <p:sp>
        <p:nvSpPr>
          <p:cNvPr id="6" name="Text 4"/>
          <p:cNvSpPr txBox="1"/>
          <p:nvPr/>
        </p:nvSpPr>
        <p:spPr>
          <a:xfrm>
            <a:off x="1645920" y="1097280"/>
            <a:ext cx="1078992" cy="868680"/>
          </a:xfrm>
          <a:prstGeom prst="rect">
            <a:avLst/>
          </a:prstGeom>
          <a:noFill/>
          <a:ln/>
        </p:spPr>
        <p:txBody>
          <a:bodyPr wrap="square" lIns="38100" tIns="38100" rIns="38100" bIns="3810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a:p>
            <a:pPr marL="0" indent="0" algn="ctr">
              <a:buNone/>
            </a:pPr>
            <a:r>
              <a:rPr lang="en-US" sz="1100" b="1" dirty="0">
                <a:solidFill>
                  <a:srgbClr val="FFFFFF"/>
                </a:solidFill>
                <a:latin typeface="Calibri" pitchFamily="34" charset="0"/>
                <a:ea typeface="Calibri" pitchFamily="34" charset="-122"/>
                <a:cs typeface="Calibri" pitchFamily="34" charset="-120"/>
              </a:rPr>
              <a:t>Data cleaning</a:t>
            </a:r>
            <a:endParaRPr lang="en-US" sz="1400" dirty="0"/>
          </a:p>
        </p:txBody>
      </p:sp>
      <p:sp>
        <p:nvSpPr>
          <p:cNvPr id="7" name="Flow 3"/>
          <p:cNvSpPr/>
          <p:nvPr/>
        </p:nvSpPr>
        <p:spPr>
          <a:xfrm>
            <a:off x="2834640" y="1097280"/>
            <a:ext cx="1078992" cy="868680"/>
          </a:xfrm>
          <a:prstGeom prst="roundRect">
            <a:avLst>
              <a:gd name="adj" fmla="val 6316"/>
            </a:avLst>
          </a:prstGeom>
          <a:solidFill>
            <a:srgbClr val="1F4D2B"/>
          </a:solidFill>
          <a:ln/>
        </p:spPr>
      </p:sp>
      <p:sp>
        <p:nvSpPr>
          <p:cNvPr id="8" name="Text 6"/>
          <p:cNvSpPr txBox="1"/>
          <p:nvPr/>
        </p:nvSpPr>
        <p:spPr>
          <a:xfrm>
            <a:off x="2834640" y="1097280"/>
            <a:ext cx="1078992" cy="868680"/>
          </a:xfrm>
          <a:prstGeom prst="rect">
            <a:avLst/>
          </a:prstGeom>
          <a:noFill/>
          <a:ln/>
        </p:spPr>
        <p:txBody>
          <a:bodyPr wrap="square" lIns="38100" tIns="38100" rIns="38100" bIns="3810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a:p>
            <a:pPr marL="0" indent="0" algn="ctr">
              <a:buNone/>
            </a:pPr>
            <a:r>
              <a:rPr lang="en-US" sz="1100" b="1" dirty="0">
                <a:solidFill>
                  <a:srgbClr val="FFFFFF"/>
                </a:solidFill>
                <a:latin typeface="Calibri" pitchFamily="34" charset="0"/>
                <a:ea typeface="Calibri" pitchFamily="34" charset="-122"/>
                <a:cs typeface="Calibri" pitchFamily="34" charset="-120"/>
              </a:rPr>
              <a:t>Data transformation</a:t>
            </a:r>
            <a:endParaRPr lang="en-US" sz="1400" dirty="0"/>
          </a:p>
        </p:txBody>
      </p:sp>
      <p:sp>
        <p:nvSpPr>
          <p:cNvPr id="9" name="Flow 4"/>
          <p:cNvSpPr/>
          <p:nvPr/>
        </p:nvSpPr>
        <p:spPr>
          <a:xfrm>
            <a:off x="4023360" y="1097280"/>
            <a:ext cx="1078992" cy="868680"/>
          </a:xfrm>
          <a:prstGeom prst="roundRect">
            <a:avLst>
              <a:gd name="adj" fmla="val 6316"/>
            </a:avLst>
          </a:prstGeom>
          <a:solidFill>
            <a:srgbClr val="2E7D4F"/>
          </a:solidFill>
          <a:ln/>
        </p:spPr>
      </p:sp>
      <p:sp>
        <p:nvSpPr>
          <p:cNvPr id="10" name="Text 8"/>
          <p:cNvSpPr txBox="1"/>
          <p:nvPr/>
        </p:nvSpPr>
        <p:spPr>
          <a:xfrm>
            <a:off x="4023360" y="1097280"/>
            <a:ext cx="1078992" cy="868680"/>
          </a:xfrm>
          <a:prstGeom prst="rect">
            <a:avLst/>
          </a:prstGeom>
          <a:noFill/>
          <a:ln/>
        </p:spPr>
        <p:txBody>
          <a:bodyPr wrap="square" lIns="38100" tIns="38100" rIns="38100" bIns="3810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a:p>
            <a:pPr marL="0" indent="0" algn="ctr">
              <a:buNone/>
            </a:pPr>
            <a:r>
              <a:rPr lang="en-US" sz="1100" b="1" dirty="0">
                <a:solidFill>
                  <a:srgbClr val="FFFFFF"/>
                </a:solidFill>
                <a:latin typeface="Calibri" pitchFamily="34" charset="0"/>
                <a:ea typeface="Calibri" pitchFamily="34" charset="-122"/>
                <a:cs typeface="Calibri" pitchFamily="34" charset="-120"/>
              </a:rPr>
              <a:t>KPI calculation</a:t>
            </a:r>
            <a:endParaRPr lang="en-US" sz="1400" dirty="0"/>
          </a:p>
        </p:txBody>
      </p:sp>
      <p:sp>
        <p:nvSpPr>
          <p:cNvPr id="11" name="Flow 5"/>
          <p:cNvSpPr/>
          <p:nvPr/>
        </p:nvSpPr>
        <p:spPr>
          <a:xfrm>
            <a:off x="5212080" y="1097280"/>
            <a:ext cx="1078992" cy="868680"/>
          </a:xfrm>
          <a:prstGeom prst="roundRect">
            <a:avLst>
              <a:gd name="adj" fmla="val 6316"/>
            </a:avLst>
          </a:prstGeom>
          <a:solidFill>
            <a:srgbClr val="1F4D2B"/>
          </a:solidFill>
          <a:ln/>
        </p:spPr>
      </p:sp>
      <p:sp>
        <p:nvSpPr>
          <p:cNvPr id="12" name="Text 10"/>
          <p:cNvSpPr txBox="1"/>
          <p:nvPr/>
        </p:nvSpPr>
        <p:spPr>
          <a:xfrm>
            <a:off x="5212080" y="1097280"/>
            <a:ext cx="1078992" cy="868680"/>
          </a:xfrm>
          <a:prstGeom prst="rect">
            <a:avLst/>
          </a:prstGeom>
          <a:noFill/>
          <a:ln/>
        </p:spPr>
        <p:txBody>
          <a:bodyPr wrap="square" lIns="38100" tIns="38100" rIns="38100" bIns="3810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5</a:t>
            </a:r>
            <a:endParaRPr lang="en-US" sz="1400" dirty="0"/>
          </a:p>
          <a:p>
            <a:pPr marL="0" indent="0" algn="ctr">
              <a:buNone/>
            </a:pPr>
            <a:r>
              <a:rPr lang="en-US" sz="1100" b="1" dirty="0">
                <a:solidFill>
                  <a:srgbClr val="FFFFFF"/>
                </a:solidFill>
                <a:latin typeface="Calibri" pitchFamily="34" charset="0"/>
                <a:ea typeface="Calibri" pitchFamily="34" charset="-122"/>
                <a:cs typeface="Calibri" pitchFamily="34" charset="-120"/>
              </a:rPr>
              <a:t>Exploratory analysis</a:t>
            </a:r>
            <a:endParaRPr lang="en-US" sz="1400" dirty="0"/>
          </a:p>
        </p:txBody>
      </p:sp>
      <p:sp>
        <p:nvSpPr>
          <p:cNvPr id="13" name="Flow 6"/>
          <p:cNvSpPr/>
          <p:nvPr/>
        </p:nvSpPr>
        <p:spPr>
          <a:xfrm>
            <a:off x="6400800" y="1097280"/>
            <a:ext cx="1078992" cy="868680"/>
          </a:xfrm>
          <a:prstGeom prst="roundRect">
            <a:avLst>
              <a:gd name="adj" fmla="val 6316"/>
            </a:avLst>
          </a:prstGeom>
          <a:solidFill>
            <a:srgbClr val="2E7D4F"/>
          </a:solidFill>
          <a:ln/>
        </p:spPr>
      </p:sp>
      <p:sp>
        <p:nvSpPr>
          <p:cNvPr id="14" name="Text 12"/>
          <p:cNvSpPr txBox="1"/>
          <p:nvPr/>
        </p:nvSpPr>
        <p:spPr>
          <a:xfrm>
            <a:off x="6400800" y="1097280"/>
            <a:ext cx="1078992" cy="868680"/>
          </a:xfrm>
          <a:prstGeom prst="rect">
            <a:avLst/>
          </a:prstGeom>
          <a:noFill/>
          <a:ln/>
        </p:spPr>
        <p:txBody>
          <a:bodyPr wrap="square" lIns="38100" tIns="38100" rIns="38100" bIns="3810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6</a:t>
            </a:r>
            <a:endParaRPr lang="en-US" sz="1400" dirty="0"/>
          </a:p>
          <a:p>
            <a:pPr marL="0" indent="0" algn="ctr">
              <a:buNone/>
            </a:pPr>
            <a:r>
              <a:rPr lang="en-US" sz="1100" b="1" dirty="0">
                <a:solidFill>
                  <a:srgbClr val="FFFFFF"/>
                </a:solidFill>
                <a:latin typeface="Calibri" pitchFamily="34" charset="0"/>
                <a:ea typeface="Calibri" pitchFamily="34" charset="-122"/>
                <a:cs typeface="Calibri" pitchFamily="34" charset="-120"/>
              </a:rPr>
              <a:t>Interactive dashboard</a:t>
            </a:r>
            <a:endParaRPr lang="en-US" sz="1400" dirty="0"/>
          </a:p>
        </p:txBody>
      </p:sp>
      <p:sp>
        <p:nvSpPr>
          <p:cNvPr id="15" name="Flow 7"/>
          <p:cNvSpPr/>
          <p:nvPr/>
        </p:nvSpPr>
        <p:spPr>
          <a:xfrm>
            <a:off x="7589520" y="1097280"/>
            <a:ext cx="1078992" cy="868680"/>
          </a:xfrm>
          <a:prstGeom prst="roundRect">
            <a:avLst>
              <a:gd name="adj" fmla="val 6316"/>
            </a:avLst>
          </a:prstGeom>
          <a:solidFill>
            <a:srgbClr val="F2B705"/>
          </a:solidFill>
          <a:ln/>
        </p:spPr>
      </p:sp>
      <p:sp>
        <p:nvSpPr>
          <p:cNvPr id="16" name="Text 14"/>
          <p:cNvSpPr txBox="1"/>
          <p:nvPr/>
        </p:nvSpPr>
        <p:spPr>
          <a:xfrm>
            <a:off x="7589520" y="1097280"/>
            <a:ext cx="1078992" cy="868680"/>
          </a:xfrm>
          <a:prstGeom prst="rect">
            <a:avLst/>
          </a:prstGeom>
          <a:noFill/>
          <a:ln/>
        </p:spPr>
        <p:txBody>
          <a:bodyPr wrap="square" lIns="38100" tIns="38100" rIns="38100" bIns="38100" rtlCol="0" anchor="ctr"/>
          <a:lstStyle/>
          <a:p>
            <a:pPr marL="0" indent="0" algn="ctr">
              <a:buNone/>
            </a:pPr>
            <a:r>
              <a:rPr lang="en-US" sz="1400" b="1" dirty="0">
                <a:solidFill>
                  <a:srgbClr val="1E2A22"/>
                </a:solidFill>
                <a:latin typeface="Georgia" pitchFamily="34" charset="0"/>
                <a:ea typeface="Georgia" pitchFamily="34" charset="-122"/>
                <a:cs typeface="Georgia" pitchFamily="34" charset="-120"/>
              </a:rPr>
              <a:t>7</a:t>
            </a:r>
            <a:endParaRPr lang="en-US" sz="1400" dirty="0"/>
          </a:p>
          <a:p>
            <a:pPr marL="0" indent="0" algn="ctr">
              <a:buNone/>
            </a:pPr>
            <a:r>
              <a:rPr lang="en-US" sz="1100" b="1" dirty="0">
                <a:solidFill>
                  <a:srgbClr val="1E2A22"/>
                </a:solidFill>
                <a:latin typeface="Calibri" pitchFamily="34" charset="0"/>
                <a:ea typeface="Calibri" pitchFamily="34" charset="-122"/>
                <a:cs typeface="Calibri" pitchFamily="34" charset="-120"/>
              </a:rPr>
              <a:t>Business insights</a:t>
            </a:r>
            <a:endParaRPr lang="en-US" sz="1400" dirty="0"/>
          </a:p>
        </p:txBody>
      </p:sp>
      <p:sp>
        <p:nvSpPr>
          <p:cNvPr id="17" name="Text 15"/>
          <p:cNvSpPr txBox="1"/>
          <p:nvPr/>
        </p:nvSpPr>
        <p:spPr>
          <a:xfrm>
            <a:off x="457200" y="2240280"/>
            <a:ext cx="4114800" cy="274320"/>
          </a:xfrm>
          <a:prstGeom prst="rect">
            <a:avLst/>
          </a:prstGeom>
          <a:noFill/>
          <a:ln/>
        </p:spPr>
        <p:txBody>
          <a:bodyPr wrap="square" lIns="0" tIns="0" rIns="0" bIns="0" rtlCol="0" anchor="ctr"/>
          <a:lstStyle/>
          <a:p>
            <a:pPr marL="0" indent="0">
              <a:buNone/>
            </a:pPr>
            <a:r>
              <a:rPr lang="en-US" sz="1400" b="1" dirty="0">
                <a:solidFill>
                  <a:srgbClr val="1F4D2B"/>
                </a:solidFill>
                <a:latin typeface="Georgia" pitchFamily="34" charset="0"/>
                <a:ea typeface="Georgia" pitchFamily="34" charset="-122"/>
                <a:cs typeface="Georgia" pitchFamily="34" charset="-120"/>
              </a:rPr>
              <a:t>Packages visible in the application</a:t>
            </a:r>
            <a:endParaRPr lang="en-US" sz="1400" dirty="0"/>
          </a:p>
        </p:txBody>
      </p:sp>
      <p:sp>
        <p:nvSpPr>
          <p:cNvPr id="18" name="Pkg R"/>
          <p:cNvSpPr/>
          <p:nvPr/>
        </p:nvSpPr>
        <p:spPr>
          <a:xfrm>
            <a:off x="457200" y="2606040"/>
            <a:ext cx="1508760" cy="640080"/>
          </a:xfrm>
          <a:prstGeom prst="roundRect">
            <a:avLst>
              <a:gd name="adj" fmla="val 8571"/>
            </a:avLst>
          </a:prstGeom>
          <a:solidFill>
            <a:srgbClr val="FFFFFF"/>
          </a:solidFill>
          <a:ln w="12700">
            <a:solidFill>
              <a:srgbClr val="2E7D4F"/>
            </a:solidFill>
            <a:prstDash val="solid"/>
          </a:ln>
        </p:spPr>
      </p:sp>
      <p:sp>
        <p:nvSpPr>
          <p:cNvPr id="19" name="Text 17"/>
          <p:cNvSpPr txBox="1"/>
          <p:nvPr/>
        </p:nvSpPr>
        <p:spPr>
          <a:xfrm>
            <a:off x="457200" y="2606040"/>
            <a:ext cx="1508760" cy="640080"/>
          </a:xfrm>
          <a:prstGeom prst="rect">
            <a:avLst/>
          </a:prstGeom>
          <a:noFill/>
          <a:ln/>
        </p:spPr>
        <p:txBody>
          <a:bodyPr wrap="square" lIns="25400" tIns="25400" rIns="25400" bIns="25400" rtlCol="0" anchor="ctr"/>
          <a:lstStyle/>
          <a:p>
            <a:pPr marL="0" indent="0" algn="ctr">
              <a:buNone/>
            </a:pPr>
            <a:r>
              <a:rPr lang="en-US" sz="1400" b="1" dirty="0">
                <a:solidFill>
                  <a:srgbClr val="1F4D2B"/>
                </a:solidFill>
                <a:latin typeface="Calibri" pitchFamily="34" charset="0"/>
                <a:ea typeface="Calibri" pitchFamily="34" charset="-122"/>
                <a:cs typeface="Calibri" pitchFamily="34" charset="-120"/>
              </a:rPr>
              <a:t>R</a:t>
            </a:r>
            <a:endParaRPr lang="en-US" sz="1400" dirty="0"/>
          </a:p>
          <a:p>
            <a:pPr marL="0" indent="0" algn="ctr">
              <a:buNone/>
            </a:pPr>
            <a:r>
              <a:rPr lang="en-US" sz="1050" dirty="0">
                <a:solidFill>
                  <a:srgbClr val="5B6B60"/>
                </a:solidFill>
                <a:latin typeface="Calibri" pitchFamily="34" charset="0"/>
                <a:ea typeface="Calibri" pitchFamily="34" charset="-122"/>
                <a:cs typeface="Calibri" pitchFamily="34" charset="-120"/>
              </a:rPr>
              <a:t>language</a:t>
            </a:r>
            <a:endParaRPr lang="en-US" sz="1400" dirty="0"/>
          </a:p>
        </p:txBody>
      </p:sp>
      <p:sp>
        <p:nvSpPr>
          <p:cNvPr id="20" name="Pkg Shiny"/>
          <p:cNvSpPr/>
          <p:nvPr/>
        </p:nvSpPr>
        <p:spPr>
          <a:xfrm>
            <a:off x="2103120" y="2606040"/>
            <a:ext cx="1508760" cy="640080"/>
          </a:xfrm>
          <a:prstGeom prst="roundRect">
            <a:avLst>
              <a:gd name="adj" fmla="val 8571"/>
            </a:avLst>
          </a:prstGeom>
          <a:solidFill>
            <a:srgbClr val="FFFFFF"/>
          </a:solidFill>
          <a:ln w="12700">
            <a:solidFill>
              <a:srgbClr val="2E7D4F"/>
            </a:solidFill>
            <a:prstDash val="solid"/>
          </a:ln>
        </p:spPr>
      </p:sp>
      <p:sp>
        <p:nvSpPr>
          <p:cNvPr id="21" name="Text 19"/>
          <p:cNvSpPr txBox="1"/>
          <p:nvPr/>
        </p:nvSpPr>
        <p:spPr>
          <a:xfrm>
            <a:off x="2103120" y="2606040"/>
            <a:ext cx="1508760" cy="640080"/>
          </a:xfrm>
          <a:prstGeom prst="rect">
            <a:avLst/>
          </a:prstGeom>
          <a:noFill/>
          <a:ln/>
        </p:spPr>
        <p:txBody>
          <a:bodyPr wrap="square" lIns="25400" tIns="25400" rIns="25400" bIns="25400" rtlCol="0" anchor="ctr"/>
          <a:lstStyle/>
          <a:p>
            <a:pPr marL="0" indent="0" algn="ctr">
              <a:buNone/>
            </a:pPr>
            <a:r>
              <a:rPr lang="en-US" sz="1400" b="1" dirty="0">
                <a:solidFill>
                  <a:srgbClr val="1F4D2B"/>
                </a:solidFill>
                <a:latin typeface="Calibri" pitchFamily="34" charset="0"/>
                <a:ea typeface="Calibri" pitchFamily="34" charset="-122"/>
                <a:cs typeface="Calibri" pitchFamily="34" charset="-120"/>
              </a:rPr>
              <a:t>Shiny</a:t>
            </a:r>
            <a:endParaRPr lang="en-US" sz="1400" dirty="0"/>
          </a:p>
          <a:p>
            <a:pPr marL="0" indent="0" algn="ctr">
              <a:buNone/>
            </a:pPr>
            <a:r>
              <a:rPr lang="en-US" sz="1050" dirty="0">
                <a:solidFill>
                  <a:srgbClr val="5B6B60"/>
                </a:solidFill>
                <a:latin typeface="Calibri" pitchFamily="34" charset="0"/>
                <a:ea typeface="Calibri" pitchFamily="34" charset="-122"/>
                <a:cs typeface="Calibri" pitchFamily="34" charset="-120"/>
              </a:rPr>
              <a:t>reactive app</a:t>
            </a:r>
            <a:endParaRPr lang="en-US" sz="1400" dirty="0"/>
          </a:p>
        </p:txBody>
      </p:sp>
      <p:sp>
        <p:nvSpPr>
          <p:cNvPr id="22" name="Pkg bslib"/>
          <p:cNvSpPr/>
          <p:nvPr/>
        </p:nvSpPr>
        <p:spPr>
          <a:xfrm>
            <a:off x="3749040" y="2606040"/>
            <a:ext cx="1508760" cy="640080"/>
          </a:xfrm>
          <a:prstGeom prst="roundRect">
            <a:avLst>
              <a:gd name="adj" fmla="val 8571"/>
            </a:avLst>
          </a:prstGeom>
          <a:solidFill>
            <a:srgbClr val="FFFFFF"/>
          </a:solidFill>
          <a:ln w="12700">
            <a:solidFill>
              <a:srgbClr val="2E7D4F"/>
            </a:solidFill>
            <a:prstDash val="solid"/>
          </a:ln>
        </p:spPr>
      </p:sp>
      <p:sp>
        <p:nvSpPr>
          <p:cNvPr id="23" name="Text 21"/>
          <p:cNvSpPr txBox="1"/>
          <p:nvPr/>
        </p:nvSpPr>
        <p:spPr>
          <a:xfrm>
            <a:off x="3749040" y="2606040"/>
            <a:ext cx="1508760" cy="640080"/>
          </a:xfrm>
          <a:prstGeom prst="rect">
            <a:avLst/>
          </a:prstGeom>
          <a:noFill/>
          <a:ln/>
        </p:spPr>
        <p:txBody>
          <a:bodyPr wrap="square" lIns="25400" tIns="25400" rIns="25400" bIns="25400" rtlCol="0" anchor="ctr"/>
          <a:lstStyle/>
          <a:p>
            <a:pPr marL="0" indent="0" algn="ctr">
              <a:buNone/>
            </a:pPr>
            <a:r>
              <a:rPr lang="en-US" sz="1400" b="1" dirty="0">
                <a:solidFill>
                  <a:srgbClr val="1F4D2B"/>
                </a:solidFill>
                <a:latin typeface="Calibri" pitchFamily="34" charset="0"/>
                <a:ea typeface="Calibri" pitchFamily="34" charset="-122"/>
                <a:cs typeface="Calibri" pitchFamily="34" charset="-120"/>
              </a:rPr>
              <a:t>bslib</a:t>
            </a:r>
            <a:endParaRPr lang="en-US" sz="1400" dirty="0"/>
          </a:p>
          <a:p>
            <a:pPr marL="0" indent="0" algn="ctr">
              <a:buNone/>
            </a:pPr>
            <a:r>
              <a:rPr lang="en-US" sz="1050" dirty="0">
                <a:solidFill>
                  <a:srgbClr val="5B6B60"/>
                </a:solidFill>
                <a:latin typeface="Calibri" pitchFamily="34" charset="0"/>
                <a:ea typeface="Calibri" pitchFamily="34" charset="-122"/>
                <a:cs typeface="Calibri" pitchFamily="34" charset="-120"/>
              </a:rPr>
              <a:t>layout*</a:t>
            </a:r>
            <a:endParaRPr lang="en-US" sz="1400" dirty="0"/>
          </a:p>
        </p:txBody>
      </p:sp>
      <p:sp>
        <p:nvSpPr>
          <p:cNvPr id="24" name="Pkg plotly"/>
          <p:cNvSpPr/>
          <p:nvPr/>
        </p:nvSpPr>
        <p:spPr>
          <a:xfrm>
            <a:off x="5394960" y="2606040"/>
            <a:ext cx="1508760" cy="640080"/>
          </a:xfrm>
          <a:prstGeom prst="roundRect">
            <a:avLst>
              <a:gd name="adj" fmla="val 8571"/>
            </a:avLst>
          </a:prstGeom>
          <a:solidFill>
            <a:srgbClr val="FFFFFF"/>
          </a:solidFill>
          <a:ln w="12700">
            <a:solidFill>
              <a:srgbClr val="2E7D4F"/>
            </a:solidFill>
            <a:prstDash val="solid"/>
          </a:ln>
        </p:spPr>
      </p:sp>
      <p:sp>
        <p:nvSpPr>
          <p:cNvPr id="25" name="Text 23"/>
          <p:cNvSpPr txBox="1"/>
          <p:nvPr/>
        </p:nvSpPr>
        <p:spPr>
          <a:xfrm>
            <a:off x="5394960" y="2606040"/>
            <a:ext cx="1508760" cy="640080"/>
          </a:xfrm>
          <a:prstGeom prst="rect">
            <a:avLst/>
          </a:prstGeom>
          <a:noFill/>
          <a:ln/>
        </p:spPr>
        <p:txBody>
          <a:bodyPr wrap="square" lIns="25400" tIns="25400" rIns="25400" bIns="25400" rtlCol="0" anchor="ctr"/>
          <a:lstStyle/>
          <a:p>
            <a:pPr marL="0" indent="0" algn="ctr">
              <a:buNone/>
            </a:pPr>
            <a:r>
              <a:rPr lang="en-US" sz="1400" b="1" dirty="0">
                <a:solidFill>
                  <a:srgbClr val="1F4D2B"/>
                </a:solidFill>
                <a:latin typeface="Calibri" pitchFamily="34" charset="0"/>
                <a:ea typeface="Calibri" pitchFamily="34" charset="-122"/>
                <a:cs typeface="Calibri" pitchFamily="34" charset="-120"/>
              </a:rPr>
              <a:t>plotly</a:t>
            </a:r>
            <a:endParaRPr lang="en-US" sz="1400" dirty="0"/>
          </a:p>
          <a:p>
            <a:pPr marL="0" indent="0" algn="ctr">
              <a:buNone/>
            </a:pPr>
            <a:r>
              <a:rPr lang="en-US" sz="1050" dirty="0">
                <a:solidFill>
                  <a:srgbClr val="5B6B60"/>
                </a:solidFill>
                <a:latin typeface="Calibri" pitchFamily="34" charset="0"/>
                <a:ea typeface="Calibri" pitchFamily="34" charset="-122"/>
                <a:cs typeface="Calibri" pitchFamily="34" charset="-120"/>
              </a:rPr>
              <a:t>interactive charts</a:t>
            </a:r>
            <a:endParaRPr lang="en-US" sz="1400" dirty="0"/>
          </a:p>
        </p:txBody>
      </p:sp>
      <p:sp>
        <p:nvSpPr>
          <p:cNvPr id="26" name="Pkg DT"/>
          <p:cNvSpPr/>
          <p:nvPr/>
        </p:nvSpPr>
        <p:spPr>
          <a:xfrm>
            <a:off x="7040880" y="2606040"/>
            <a:ext cx="1508760" cy="640080"/>
          </a:xfrm>
          <a:prstGeom prst="roundRect">
            <a:avLst>
              <a:gd name="adj" fmla="val 8571"/>
            </a:avLst>
          </a:prstGeom>
          <a:solidFill>
            <a:srgbClr val="FFFFFF"/>
          </a:solidFill>
          <a:ln w="12700">
            <a:solidFill>
              <a:srgbClr val="2E7D4F"/>
            </a:solidFill>
            <a:prstDash val="solid"/>
          </a:ln>
        </p:spPr>
      </p:sp>
      <p:sp>
        <p:nvSpPr>
          <p:cNvPr id="27" name="Text 25"/>
          <p:cNvSpPr txBox="1"/>
          <p:nvPr/>
        </p:nvSpPr>
        <p:spPr>
          <a:xfrm>
            <a:off x="7040880" y="2606040"/>
            <a:ext cx="1508760" cy="640080"/>
          </a:xfrm>
          <a:prstGeom prst="rect">
            <a:avLst/>
          </a:prstGeom>
          <a:noFill/>
          <a:ln/>
        </p:spPr>
        <p:txBody>
          <a:bodyPr wrap="square" lIns="25400" tIns="25400" rIns="25400" bIns="25400" rtlCol="0" anchor="ctr"/>
          <a:lstStyle/>
          <a:p>
            <a:pPr marL="0" indent="0" algn="ctr">
              <a:buNone/>
            </a:pPr>
            <a:r>
              <a:rPr lang="en-US" sz="1400" b="1" dirty="0">
                <a:solidFill>
                  <a:srgbClr val="1F4D2B"/>
                </a:solidFill>
                <a:latin typeface="Calibri" pitchFamily="34" charset="0"/>
                <a:ea typeface="Calibri" pitchFamily="34" charset="-122"/>
                <a:cs typeface="Calibri" pitchFamily="34" charset="-120"/>
              </a:rPr>
              <a:t>DT</a:t>
            </a:r>
            <a:endParaRPr lang="en-US" sz="1400" dirty="0"/>
          </a:p>
          <a:p>
            <a:pPr marL="0" indent="0" algn="ctr">
              <a:buNone/>
            </a:pPr>
            <a:r>
              <a:rPr lang="en-US" sz="1050" dirty="0">
                <a:solidFill>
                  <a:srgbClr val="5B6B60"/>
                </a:solidFill>
                <a:latin typeface="Calibri" pitchFamily="34" charset="0"/>
                <a:ea typeface="Calibri" pitchFamily="34" charset="-122"/>
                <a:cs typeface="Calibri" pitchFamily="34" charset="-120"/>
              </a:rPr>
              <a:t>interactive tables</a:t>
            </a:r>
            <a:endParaRPr lang="en-US" sz="1400" dirty="0"/>
          </a:p>
        </p:txBody>
      </p:sp>
      <p:sp>
        <p:nvSpPr>
          <p:cNvPr id="28" name="Text 26"/>
          <p:cNvSpPr txBox="1"/>
          <p:nvPr/>
        </p:nvSpPr>
        <p:spPr>
          <a:xfrm>
            <a:off x="457200" y="3337560"/>
            <a:ext cx="5669280" cy="256032"/>
          </a:xfrm>
          <a:prstGeom prst="rect">
            <a:avLst/>
          </a:prstGeom>
          <a:solidFill>
            <a:srgbClr val="FFE9A3"/>
          </a:solidFill>
          <a:ln/>
        </p:spPr>
        <p:txBody>
          <a:bodyPr wrap="square" lIns="25400" tIns="25400" rIns="25400" bIns="25400" rtlCol="0" anchor="ctr"/>
          <a:lstStyle/>
          <a:p>
            <a:pPr marL="0" indent="0" algn="ctr">
              <a:buNone/>
            </a:pPr>
            <a:r>
              <a:rPr lang="en-US" sz="1000" dirty="0">
                <a:solidFill>
                  <a:srgbClr val="5A4300"/>
                </a:solidFill>
                <a:latin typeface="Calibri" pitchFamily="34" charset="0"/>
                <a:ea typeface="Calibri" pitchFamily="34" charset="-122"/>
                <a:cs typeface="Calibri" pitchFamily="34" charset="-120"/>
              </a:rPr>
              <a:t>[Confirm from code: data-manipulation, date-time and forecasting packages]</a:t>
            </a:r>
            <a:endParaRPr lang="en-US" sz="1000" dirty="0"/>
          </a:p>
        </p:txBody>
      </p:sp>
      <p:sp>
        <p:nvSpPr>
          <p:cNvPr id="29" name="Text 27"/>
          <p:cNvSpPr txBox="1"/>
          <p:nvPr/>
        </p:nvSpPr>
        <p:spPr>
          <a:xfrm>
            <a:off x="6263640" y="3337560"/>
            <a:ext cx="2468880" cy="256032"/>
          </a:xfrm>
          <a:prstGeom prst="rect">
            <a:avLst/>
          </a:prstGeom>
          <a:noFill/>
          <a:ln/>
        </p:spPr>
        <p:txBody>
          <a:bodyPr wrap="square" lIns="0" tIns="0" rIns="0" bIns="0" rtlCol="0" anchor="ctr"/>
          <a:lstStyle/>
          <a:p>
            <a:pPr marL="0" indent="0">
              <a:buNone/>
            </a:pPr>
            <a:r>
              <a:rPr lang="en-US" sz="1000" dirty="0">
                <a:solidFill>
                  <a:srgbClr val="5B6B60"/>
                </a:solidFill>
                <a:latin typeface="Calibri" pitchFamily="34" charset="0"/>
                <a:ea typeface="Calibri" pitchFamily="34" charset="-122"/>
                <a:cs typeface="Calibri" pitchFamily="34" charset="-120"/>
              </a:rPr>
              <a:t>*Cards, value boxes and collapsible sidebar are consistent with bslib.</a:t>
            </a:r>
            <a:endParaRPr lang="en-US" sz="1000" dirty="0"/>
          </a:p>
        </p:txBody>
      </p:sp>
      <p:sp>
        <p:nvSpPr>
          <p:cNvPr id="30" name="Formula band"/>
          <p:cNvSpPr/>
          <p:nvPr/>
        </p:nvSpPr>
        <p:spPr>
          <a:xfrm>
            <a:off x="457200" y="3749040"/>
            <a:ext cx="8229600" cy="868680"/>
          </a:xfrm>
          <a:prstGeom prst="rect">
            <a:avLst/>
          </a:prstGeom>
          <a:solidFill>
            <a:srgbClr val="E3EDE4"/>
          </a:solidFill>
          <a:ln/>
        </p:spPr>
      </p:sp>
      <p:sp>
        <p:nvSpPr>
          <p:cNvPr id="31" name="Text 29"/>
          <p:cNvSpPr txBox="1"/>
          <p:nvPr/>
        </p:nvSpPr>
        <p:spPr>
          <a:xfrm>
            <a:off x="640080" y="3767328"/>
            <a:ext cx="7863840" cy="822960"/>
          </a:xfrm>
          <a:prstGeom prst="rect">
            <a:avLst/>
          </a:prstGeom>
          <a:noFill/>
          <a:ln/>
        </p:spPr>
        <p:txBody>
          <a:bodyPr wrap="square" lIns="0" tIns="0" rIns="0" bIns="0" rtlCol="0" anchor="ctr"/>
          <a:lstStyle/>
          <a:p>
            <a:pPr marL="0" indent="0">
              <a:spcAft>
                <a:spcPts val="300"/>
              </a:spcAft>
              <a:buNone/>
            </a:pPr>
            <a:r>
              <a:rPr lang="en-US" sz="1250" dirty="0">
                <a:solidFill>
                  <a:srgbClr val="1E2A22"/>
                </a:solidFill>
                <a:latin typeface="Calibri" pitchFamily="34" charset="0"/>
                <a:ea typeface="Calibri" pitchFamily="34" charset="-122"/>
                <a:cs typeface="Calibri" pitchFamily="34" charset="-120"/>
              </a:rPr>
              <a:t>Penetration (%) = Renewable ÷ Demand × 100</a:t>
            </a:r>
            <a:endParaRPr lang="en-US" sz="1250" dirty="0"/>
          </a:p>
          <a:p>
            <a:pPr marL="0" indent="0">
              <a:spcAft>
                <a:spcPts val="300"/>
              </a:spcAft>
              <a:buNone/>
            </a:pPr>
            <a:r>
              <a:rPr lang="en-US" sz="1250" dirty="0">
                <a:solidFill>
                  <a:srgbClr val="1E2A22"/>
                </a:solidFill>
                <a:latin typeface="Calibri" pitchFamily="34" charset="0"/>
                <a:ea typeface="Calibri" pitchFamily="34" charset="-122"/>
                <a:cs typeface="Calibri" pitchFamily="34" charset="-120"/>
              </a:rPr>
              <a:t>Residual demand = Demand − (Solar + Wind)    |    Ramp = Residual(t) − Residual(t−1)</a:t>
            </a:r>
            <a:endParaRPr lang="en-US" sz="1250" dirty="0"/>
          </a:p>
          <a:p>
            <a:pPr marL="0" indent="0">
              <a:spcAft>
                <a:spcPts val="300"/>
              </a:spcAft>
              <a:buNone/>
            </a:pPr>
            <a:r>
              <a:rPr lang="en-US" sz="1250" i="1" dirty="0">
                <a:solidFill>
                  <a:srgbClr val="1F4D2B"/>
                </a:solidFill>
                <a:latin typeface="Calibri" pitchFamily="34" charset="0"/>
                <a:ea typeface="Calibri" pitchFamily="34" charset="-122"/>
                <a:cs typeface="Calibri" pitchFamily="34" charset="-120"/>
              </a:rPr>
              <a:t>A residual-demand gap is not a supply deficit: other sources, storage and transfers balance it.</a:t>
            </a:r>
            <a:endParaRPr lang="en-US" sz="1250" dirty="0"/>
          </a:p>
        </p:txBody>
      </p:sp>
      <p:sp>
        <p:nvSpPr>
          <p:cNvPr id="33" name="Slide Number Placeholder 32">
            <a:extLst>
              <a:ext uri="{FF2B5EF4-FFF2-40B4-BE49-F238E27FC236}">
                <a16:creationId xmlns:a16="http://schemas.microsoft.com/office/drawing/2014/main" id="{C7255F06-0757-D305-197A-AFBD37E4B53B}"/>
              </a:ext>
            </a:extLst>
          </p:cNvPr>
          <p:cNvSpPr>
            <a:spLocks noGrp="1"/>
          </p:cNvSpPr>
          <p:nvPr>
            <p:ph type="sldNum" sz="quarter" idx="4294967295"/>
          </p:nvPr>
        </p:nvSpPr>
        <p:spPr/>
        <p:txBody>
          <a:bodyPr/>
          <a:lstStyle/>
          <a:p>
            <a:pPr algn="r"/>
            <a:fld id="{F7021451-1387-4CA6-816F-3879F97B5CBC}" type="slidenum">
              <a:rPr lang="en-US" b="0" smtClean="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Dashboard overview</a:t>
            </a:r>
            <a:endParaRPr lang="en-US" sz="2600" dirty="0"/>
          </a:p>
        </p:txBody>
      </p:sp>
      <p:pic>
        <p:nvPicPr>
          <p:cNvPr id="3" name="Figure 1 screenshot" descr="Screenshot of the Renewable Energy Intelligence R Shiny application"/>
          <p:cNvPicPr>
            <a:picLocks noChangeAspect="1"/>
          </p:cNvPicPr>
          <p:nvPr/>
        </p:nvPicPr>
        <p:blipFill>
          <a:blip r:embed="rId3"/>
          <a:stretch>
            <a:fillRect/>
          </a:stretch>
        </p:blipFill>
        <p:spPr>
          <a:xfrm>
            <a:off x="411480" y="1005840"/>
            <a:ext cx="5577840" cy="2653307"/>
          </a:xfrm>
          <a:prstGeom prst="rect">
            <a:avLst/>
          </a:prstGeom>
        </p:spPr>
      </p:pic>
      <p:sp>
        <p:nvSpPr>
          <p:cNvPr id="4" name="Figure 1 screenshot frame"/>
          <p:cNvSpPr/>
          <p:nvPr/>
        </p:nvSpPr>
        <p:spPr>
          <a:xfrm>
            <a:off x="411480" y="1005840"/>
            <a:ext cx="5577840" cy="2653307"/>
          </a:xfrm>
          <a:prstGeom prst="rect">
            <a:avLst/>
          </a:prstGeom>
          <a:ln w="9525">
            <a:solidFill>
              <a:srgbClr val="B9C7BC"/>
            </a:solidFill>
            <a:prstDash val="solid"/>
          </a:ln>
        </p:spPr>
      </p:sp>
      <p:sp>
        <p:nvSpPr>
          <p:cNvPr id="5" name="Text 2"/>
          <p:cNvSpPr txBox="1"/>
          <p:nvPr/>
        </p:nvSpPr>
        <p:spPr>
          <a:xfrm>
            <a:off x="411480" y="3732299"/>
            <a:ext cx="5577840" cy="201168"/>
          </a:xfrm>
          <a:prstGeom prst="rect">
            <a:avLst/>
          </a:prstGeom>
          <a:noFill/>
          <a:ln/>
        </p:spPr>
        <p:txBody>
          <a:bodyPr wrap="square" lIns="0" tIns="0" rIns="0" bIns="0" rtlCol="0" anchor="ctr"/>
          <a:lstStyle/>
          <a:p>
            <a:pPr marL="0" indent="0">
              <a:buNone/>
            </a:pPr>
            <a:r>
              <a:rPr lang="en-US" sz="1050" b="1" dirty="0">
                <a:solidFill>
                  <a:srgbClr val="1E2A22"/>
                </a:solidFill>
                <a:latin typeface="Calibri" pitchFamily="34" charset="0"/>
                <a:ea typeface="Calibri" pitchFamily="34" charset="-122"/>
                <a:cs typeface="Calibri" pitchFamily="34" charset="-120"/>
              </a:rPr>
              <a:t>Figure 1. Renewable Energy Intelligence dashboard overview (25 May–24 Jun 2025, weekends).</a:t>
            </a:r>
            <a:endParaRPr lang="en-US" sz="1050" dirty="0"/>
          </a:p>
        </p:txBody>
      </p:sp>
      <p:sp>
        <p:nvSpPr>
          <p:cNvPr id="6" name="Text 3"/>
          <p:cNvSpPr txBox="1"/>
          <p:nvPr/>
        </p:nvSpPr>
        <p:spPr>
          <a:xfrm>
            <a:off x="411480" y="3951755"/>
            <a:ext cx="5577840" cy="201168"/>
          </a:xfrm>
          <a:prstGeom prst="rect">
            <a:avLst/>
          </a:prstGeom>
          <a:noFill/>
          <a:ln/>
        </p:spPr>
        <p:txBody>
          <a:bodyPr wrap="square" lIns="0" tIns="0" rIns="0" bIns="0"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Source: Author's own screenshot of the Renewable Energy Intelligence application developed using R Shiny.</a:t>
            </a:r>
            <a:endParaRPr lang="en-US" sz="1000" dirty="0"/>
          </a:p>
        </p:txBody>
      </p:sp>
      <p:sp>
        <p:nvSpPr>
          <p:cNvPr id="7" name="Text 4"/>
          <p:cNvSpPr txBox="1"/>
          <p:nvPr/>
        </p:nvSpPr>
        <p:spPr>
          <a:xfrm>
            <a:off x="411480" y="4297680"/>
            <a:ext cx="5577840" cy="457200"/>
          </a:xfrm>
          <a:prstGeom prst="rect">
            <a:avLst/>
          </a:prstGeom>
          <a:noFill/>
          <a:ln/>
        </p:spPr>
        <p:txBody>
          <a:bodyPr wrap="square" lIns="0" tIns="0" rIns="0" bIns="0" rtlCol="0" anchor="t"/>
          <a:lstStyle/>
          <a:p>
            <a:pPr marL="0" indent="0">
              <a:buNone/>
            </a:pPr>
            <a:r>
              <a:rPr lang="en-US" sz="1250" dirty="0">
                <a:solidFill>
                  <a:srgbClr val="1F4D2B"/>
                </a:solidFill>
                <a:latin typeface="Calibri" pitchFamily="34" charset="0"/>
                <a:ea typeface="Calibri" pitchFamily="34" charset="-122"/>
                <a:cs typeface="Calibri" pitchFamily="34" charset="-120"/>
              </a:rPr>
              <a:t>One set of filters drives every tab, so a planner can move from headline KPIs to distributions and raw records for the same period.</a:t>
            </a:r>
            <a:endParaRPr lang="en-US" sz="1250" dirty="0"/>
          </a:p>
        </p:txBody>
      </p:sp>
      <p:sp>
        <p:nvSpPr>
          <p:cNvPr id="8" name="Text 5"/>
          <p:cNvSpPr txBox="1"/>
          <p:nvPr/>
        </p:nvSpPr>
        <p:spPr>
          <a:xfrm>
            <a:off x="6263640" y="1005840"/>
            <a:ext cx="2468880" cy="274320"/>
          </a:xfrm>
          <a:prstGeom prst="rect">
            <a:avLst/>
          </a:prstGeom>
          <a:noFill/>
          <a:ln/>
        </p:spPr>
        <p:txBody>
          <a:bodyPr wrap="square" lIns="0" tIns="0" rIns="0" bIns="0" rtlCol="0" anchor="ctr"/>
          <a:lstStyle/>
          <a:p>
            <a:pPr marL="0" indent="0">
              <a:buNone/>
            </a:pPr>
            <a:r>
              <a:rPr lang="en-US" sz="1500" b="1" dirty="0">
                <a:solidFill>
                  <a:srgbClr val="1F4D2B"/>
                </a:solidFill>
                <a:latin typeface="Georgia" pitchFamily="34" charset="0"/>
                <a:ea typeface="Georgia" pitchFamily="34" charset="-122"/>
                <a:cs typeface="Georgia" pitchFamily="34" charset="-120"/>
              </a:rPr>
              <a:t>Main components</a:t>
            </a:r>
            <a:endParaRPr lang="en-US" sz="1500" dirty="0"/>
          </a:p>
        </p:txBody>
      </p:sp>
      <p:sp>
        <p:nvSpPr>
          <p:cNvPr id="9" name="Text 6"/>
          <p:cNvSpPr txBox="1"/>
          <p:nvPr/>
        </p:nvSpPr>
        <p:spPr>
          <a:xfrm>
            <a:off x="6263640" y="1371600"/>
            <a:ext cx="2468880" cy="274320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1E2A22"/>
                </a:solidFill>
                <a:latin typeface="Calibri" pitchFamily="34" charset="0"/>
                <a:ea typeface="Calibri" pitchFamily="34" charset="-122"/>
                <a:cs typeface="Calibri" pitchFamily="34" charset="-120"/>
              </a:rPr>
              <a:t>8 KPI cards: energy, demand, peak, ramp</a:t>
            </a:r>
            <a:endParaRPr lang="en-US" sz="1250" dirty="0"/>
          </a:p>
          <a:p>
            <a:pPr marL="177800" indent="-177800">
              <a:spcAft>
                <a:spcPts val="700"/>
              </a:spcAft>
              <a:buSzPct val="100000"/>
              <a:buChar char="•"/>
            </a:pPr>
            <a:r>
              <a:rPr lang="en-US" sz="1250" dirty="0">
                <a:solidFill>
                  <a:srgbClr val="1E2A22"/>
                </a:solidFill>
                <a:latin typeface="Calibri" pitchFamily="34" charset="0"/>
                <a:ea typeface="Calibri" pitchFamily="34" charset="-122"/>
                <a:cs typeface="Calibri" pitchFamily="34" charset="-120"/>
              </a:rPr>
              <a:t>7 navigation tabs</a:t>
            </a:r>
            <a:endParaRPr lang="en-US" sz="1250" dirty="0"/>
          </a:p>
          <a:p>
            <a:pPr marL="177800" indent="-177800">
              <a:spcAft>
                <a:spcPts val="700"/>
              </a:spcAft>
              <a:buSzPct val="100000"/>
              <a:buChar char="•"/>
            </a:pPr>
            <a:r>
              <a:rPr lang="en-US" sz="1250" dirty="0">
                <a:solidFill>
                  <a:srgbClr val="1E2A22"/>
                </a:solidFill>
                <a:latin typeface="Calibri" pitchFamily="34" charset="0"/>
                <a:ea typeface="Calibri" pitchFamily="34" charset="-122"/>
                <a:cs typeface="Calibri" pitchFamily="34" charset="-120"/>
              </a:rPr>
              <a:t>Sidebar filters: dates, season, day type</a:t>
            </a:r>
            <a:endParaRPr lang="en-US" sz="1250" dirty="0"/>
          </a:p>
          <a:p>
            <a:pPr marL="177800" indent="-177800">
              <a:spcAft>
                <a:spcPts val="700"/>
              </a:spcAft>
              <a:buSzPct val="100000"/>
              <a:buChar char="•"/>
            </a:pPr>
            <a:r>
              <a:rPr lang="en-US" sz="1250" dirty="0">
                <a:solidFill>
                  <a:srgbClr val="1E2A22"/>
                </a:solidFill>
                <a:latin typeface="Calibri" pitchFamily="34" charset="0"/>
                <a:ea typeface="Calibri" pitchFamily="34" charset="-122"/>
                <a:cs typeface="Calibri" pitchFamily="34" charset="-120"/>
              </a:rPr>
              <a:t>Interactive plotly charts</a:t>
            </a:r>
            <a:endParaRPr lang="en-US" sz="1250" dirty="0"/>
          </a:p>
          <a:p>
            <a:pPr marL="177800" indent="-177800">
              <a:spcAft>
                <a:spcPts val="700"/>
              </a:spcAft>
              <a:buSzPct val="100000"/>
              <a:buChar char="•"/>
            </a:pPr>
            <a:r>
              <a:rPr lang="en-US" sz="1250" dirty="0">
                <a:solidFill>
                  <a:srgbClr val="1E2A22"/>
                </a:solidFill>
                <a:latin typeface="Calibri" pitchFamily="34" charset="0"/>
                <a:ea typeface="Calibri" pitchFamily="34" charset="-122"/>
                <a:cs typeface="Calibri" pitchFamily="34" charset="-120"/>
              </a:rPr>
              <a:t>Data Explorer with CSV download</a:t>
            </a:r>
            <a:endParaRPr lang="en-US" sz="1250" dirty="0"/>
          </a:p>
        </p:txBody>
      </p:sp>
      <p:sp>
        <p:nvSpPr>
          <p:cNvPr id="10" name="Slide Number Placeholder 9">
            <a:extLst>
              <a:ext uri="{FF2B5EF4-FFF2-40B4-BE49-F238E27FC236}">
                <a16:creationId xmlns:a16="http://schemas.microsoft.com/office/drawing/2014/main" id="{194B33DE-4C10-4086-6A7B-5D45FEC66573}"/>
              </a:ext>
            </a:extLst>
          </p:cNvPr>
          <p:cNvSpPr>
            <a:spLocks noGrp="1"/>
          </p:cNvSpPr>
          <p:nvPr>
            <p:ph type="sldNum" sz="quarter" idx="4294967295"/>
          </p:nvPr>
        </p:nvSpPr>
        <p:spPr/>
        <p:txBody>
          <a:bodyPr/>
          <a:lstStyle/>
          <a:p>
            <a:pPr algn="r"/>
            <a:fld id="{F7021451-1387-4CA6-816F-3879F97B5CBC}" type="slidenum">
              <a:rPr lang="en-US" b="0" smtClean="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Solar and wind through the day and season</a:t>
            </a:r>
            <a:endParaRPr lang="en-US" sz="2600" dirty="0"/>
          </a:p>
        </p:txBody>
      </p:sp>
      <p:pic>
        <p:nvPicPr>
          <p:cNvPr id="3" name="Figure 2 screenshot" descr="Screenshot of the Renewable Energy Intelligence R Shiny application"/>
          <p:cNvPicPr>
            <a:picLocks noChangeAspect="1"/>
          </p:cNvPicPr>
          <p:nvPr/>
        </p:nvPicPr>
        <p:blipFill>
          <a:blip r:embed="rId3"/>
          <a:stretch>
            <a:fillRect/>
          </a:stretch>
        </p:blipFill>
        <p:spPr>
          <a:xfrm>
            <a:off x="411480" y="1005840"/>
            <a:ext cx="5577840" cy="2612963"/>
          </a:xfrm>
          <a:prstGeom prst="rect">
            <a:avLst/>
          </a:prstGeom>
        </p:spPr>
      </p:pic>
      <p:sp>
        <p:nvSpPr>
          <p:cNvPr id="4" name="Figure 2 screenshot frame"/>
          <p:cNvSpPr/>
          <p:nvPr/>
        </p:nvSpPr>
        <p:spPr>
          <a:xfrm>
            <a:off x="411480" y="1005840"/>
            <a:ext cx="5577840" cy="2612963"/>
          </a:xfrm>
          <a:prstGeom prst="rect">
            <a:avLst/>
          </a:prstGeom>
          <a:ln w="9525">
            <a:solidFill>
              <a:srgbClr val="B9C7BC"/>
            </a:solidFill>
            <a:prstDash val="solid"/>
          </a:ln>
        </p:spPr>
      </p:sp>
      <p:sp>
        <p:nvSpPr>
          <p:cNvPr id="5" name="Text 2"/>
          <p:cNvSpPr txBox="1"/>
          <p:nvPr/>
        </p:nvSpPr>
        <p:spPr>
          <a:xfrm>
            <a:off x="411480" y="3691955"/>
            <a:ext cx="5577840" cy="201168"/>
          </a:xfrm>
          <a:prstGeom prst="rect">
            <a:avLst/>
          </a:prstGeom>
          <a:noFill/>
          <a:ln/>
        </p:spPr>
        <p:txBody>
          <a:bodyPr wrap="square" lIns="0" tIns="0" rIns="0" bIns="0" rtlCol="0" anchor="ctr"/>
          <a:lstStyle/>
          <a:p>
            <a:pPr marL="0" indent="0">
              <a:buNone/>
            </a:pPr>
            <a:r>
              <a:rPr lang="en-US" sz="1050" b="1" dirty="0">
                <a:solidFill>
                  <a:srgbClr val="1E2A22"/>
                </a:solidFill>
                <a:latin typeface="Calibri" pitchFamily="34" charset="0"/>
                <a:ea typeface="Calibri" pitchFamily="34" charset="-122"/>
                <a:cs typeface="Calibri" pitchFamily="34" charset="-120"/>
              </a:rPr>
              <a:t>Figure 2. Generation Analysis: diurnal solar and wind profile, seasonal totals and peak milestones.</a:t>
            </a:r>
            <a:endParaRPr lang="en-US" sz="1050" dirty="0"/>
          </a:p>
        </p:txBody>
      </p:sp>
      <p:sp>
        <p:nvSpPr>
          <p:cNvPr id="6" name="Text 3"/>
          <p:cNvSpPr txBox="1"/>
          <p:nvPr/>
        </p:nvSpPr>
        <p:spPr>
          <a:xfrm>
            <a:off x="411480" y="3911411"/>
            <a:ext cx="5577840" cy="201168"/>
          </a:xfrm>
          <a:prstGeom prst="rect">
            <a:avLst/>
          </a:prstGeom>
          <a:noFill/>
          <a:ln/>
        </p:spPr>
        <p:txBody>
          <a:bodyPr wrap="square" lIns="0" tIns="0" rIns="0" bIns="0" rtlCol="0" anchor="ctr"/>
          <a:lstStyle/>
          <a:p>
            <a:pPr marL="0" indent="0">
              <a:buNone/>
            </a:pPr>
            <a:r>
              <a:rPr lang="en-US" sz="1000" i="1" dirty="0">
                <a:solidFill>
                  <a:srgbClr val="5B6B60"/>
                </a:solidFill>
                <a:latin typeface="Calibri" pitchFamily="34" charset="0"/>
                <a:ea typeface="Calibri" pitchFamily="34" charset="-122"/>
                <a:cs typeface="Calibri" pitchFamily="34" charset="-120"/>
              </a:rPr>
              <a:t>Source: Author's own project screenshot.</a:t>
            </a:r>
            <a:endParaRPr lang="en-US" sz="1000" dirty="0"/>
          </a:p>
        </p:txBody>
      </p:sp>
      <p:sp>
        <p:nvSpPr>
          <p:cNvPr id="7" name="Caution band"/>
          <p:cNvSpPr/>
          <p:nvPr/>
        </p:nvSpPr>
        <p:spPr>
          <a:xfrm>
            <a:off x="411480" y="4224528"/>
            <a:ext cx="5577840" cy="502920"/>
          </a:xfrm>
          <a:prstGeom prst="rect">
            <a:avLst/>
          </a:prstGeom>
          <a:solidFill>
            <a:srgbClr val="FFF4CC"/>
          </a:solidFill>
          <a:ln/>
        </p:spPr>
      </p:sp>
      <p:sp>
        <p:nvSpPr>
          <p:cNvPr id="8" name="Text 5"/>
          <p:cNvSpPr txBox="1"/>
          <p:nvPr/>
        </p:nvSpPr>
        <p:spPr>
          <a:xfrm>
            <a:off x="530352" y="4224528"/>
            <a:ext cx="5349240" cy="502920"/>
          </a:xfrm>
          <a:prstGeom prst="rect">
            <a:avLst/>
          </a:prstGeom>
          <a:noFill/>
          <a:ln/>
        </p:spPr>
        <p:txBody>
          <a:bodyPr wrap="square" lIns="0" tIns="0" rIns="0" bIns="0" rtlCol="0" anchor="ctr"/>
          <a:lstStyle/>
          <a:p>
            <a:pPr marL="0" indent="0">
              <a:buNone/>
            </a:pPr>
            <a:r>
              <a:rPr lang="en-US" sz="1150" dirty="0">
                <a:solidFill>
                  <a:srgbClr val="1E2A22"/>
                </a:solidFill>
                <a:latin typeface="Calibri" pitchFamily="34" charset="0"/>
                <a:ea typeface="Calibri" pitchFamily="34" charset="-122"/>
                <a:cs typeface="Calibri" pitchFamily="34" charset="-120"/>
              </a:rPr>
              <a:t>Read with care: seasonal bars are summed totals, and the window has 2 May and 7 June weekend days, so they do not show seasonal intensity.</a:t>
            </a:r>
            <a:endParaRPr lang="en-US" sz="1150" dirty="0"/>
          </a:p>
        </p:txBody>
      </p:sp>
      <p:sp>
        <p:nvSpPr>
          <p:cNvPr id="9" name="Text 6"/>
          <p:cNvSpPr txBox="1"/>
          <p:nvPr/>
        </p:nvSpPr>
        <p:spPr>
          <a:xfrm>
            <a:off x="6263640" y="1005840"/>
            <a:ext cx="2468880" cy="274320"/>
          </a:xfrm>
          <a:prstGeom prst="rect">
            <a:avLst/>
          </a:prstGeom>
          <a:noFill/>
          <a:ln/>
        </p:spPr>
        <p:txBody>
          <a:bodyPr wrap="square" lIns="0" tIns="0" rIns="0" bIns="0" rtlCol="0" anchor="ctr"/>
          <a:lstStyle/>
          <a:p>
            <a:pPr marL="0" indent="0">
              <a:buNone/>
            </a:pPr>
            <a:r>
              <a:rPr lang="en-US" sz="1500" b="1" dirty="0">
                <a:solidFill>
                  <a:srgbClr val="1F4D2B"/>
                </a:solidFill>
                <a:latin typeface="Georgia" pitchFamily="34" charset="0"/>
                <a:ea typeface="Georgia" pitchFamily="34" charset="-122"/>
                <a:cs typeface="Georgia" pitchFamily="34" charset="-120"/>
              </a:rPr>
              <a:t>What the data shows</a:t>
            </a:r>
            <a:endParaRPr lang="en-US" sz="1500" dirty="0"/>
          </a:p>
        </p:txBody>
      </p:sp>
      <p:sp>
        <p:nvSpPr>
          <p:cNvPr id="10" name="Text 7"/>
          <p:cNvSpPr txBox="1"/>
          <p:nvPr/>
        </p:nvSpPr>
        <p:spPr>
          <a:xfrm>
            <a:off x="6263640" y="1371600"/>
            <a:ext cx="2468880" cy="3200400"/>
          </a:xfrm>
          <a:prstGeom prst="rect">
            <a:avLst/>
          </a:prstGeom>
          <a:noFill/>
          <a:ln/>
        </p:spPr>
        <p:txBody>
          <a:bodyPr wrap="square" lIns="0" tIns="0" rIns="0" bIns="0" rtlCol="0" anchor="t"/>
          <a:lstStyle/>
          <a:p>
            <a:pPr marL="177800" indent="-177800">
              <a:spcAft>
                <a:spcPts val="800"/>
              </a:spcAft>
              <a:buSzPct val="100000"/>
              <a:buChar char="•"/>
            </a:pPr>
            <a:r>
              <a:rPr lang="en-US" sz="1200" dirty="0">
                <a:solidFill>
                  <a:srgbClr val="1E2A22"/>
                </a:solidFill>
                <a:latin typeface="Calibri" pitchFamily="34" charset="0"/>
                <a:ea typeface="Calibri" pitchFamily="34" charset="-122"/>
                <a:cs typeface="Calibri" pitchFamily="34" charset="-120"/>
              </a:rPr>
              <a:t>Solar forms a bell curve around 12:00–13:00 IST and is near zero overnight</a:t>
            </a:r>
            <a:endParaRPr lang="en-US" sz="1200" dirty="0"/>
          </a:p>
          <a:p>
            <a:pPr marL="177800" indent="-177800">
              <a:spcAft>
                <a:spcPts val="800"/>
              </a:spcAft>
              <a:buSzPct val="100000"/>
              <a:buChar char="•"/>
            </a:pPr>
            <a:r>
              <a:rPr lang="en-US" sz="1200" dirty="0">
                <a:solidFill>
                  <a:srgbClr val="1E2A22"/>
                </a:solidFill>
                <a:latin typeface="Calibri" pitchFamily="34" charset="0"/>
                <a:ea typeface="Calibri" pitchFamily="34" charset="-122"/>
                <a:cs typeface="Calibri" pitchFamily="34" charset="-120"/>
              </a:rPr>
              <a:t>Wind is present through the day, covering night hours</a:t>
            </a:r>
            <a:endParaRPr lang="en-US" sz="1200" dirty="0"/>
          </a:p>
          <a:p>
            <a:pPr marL="177800" indent="-177800">
              <a:spcAft>
                <a:spcPts val="800"/>
              </a:spcAft>
              <a:buSzPct val="100000"/>
              <a:buChar char="•"/>
            </a:pPr>
            <a:r>
              <a:rPr lang="en-US" sz="1200" dirty="0">
                <a:solidFill>
                  <a:srgbClr val="1E2A22"/>
                </a:solidFill>
                <a:latin typeface="Calibri" pitchFamily="34" charset="0"/>
                <a:ea typeface="Calibri" pitchFamily="34" charset="-122"/>
                <a:cs typeface="Calibri" pitchFamily="34" charset="-120"/>
              </a:rPr>
              <a:t>Top solar hour: 8 Jun, 12:00 at 61.71 GW, with demand at 211.55 GW</a:t>
            </a:r>
            <a:endParaRPr lang="en-US" sz="1200" dirty="0"/>
          </a:p>
          <a:p>
            <a:pPr marL="177800" indent="-177800">
              <a:spcAft>
                <a:spcPts val="800"/>
              </a:spcAft>
              <a:buSzPct val="100000"/>
              <a:buChar char="•"/>
            </a:pPr>
            <a:r>
              <a:rPr lang="en-US" sz="1200" dirty="0">
                <a:solidFill>
                  <a:srgbClr val="1E2A22"/>
                </a:solidFill>
                <a:latin typeface="Calibri" pitchFamily="34" charset="0"/>
                <a:ea typeface="Calibri" pitchFamily="34" charset="-122"/>
                <a:cs typeface="Calibri" pitchFamily="34" charset="-120"/>
              </a:rPr>
              <a:t>Solar alone then covered about 29% of demand (derived)</a:t>
            </a:r>
            <a:endParaRPr lang="en-US" sz="1200" dirty="0"/>
          </a:p>
        </p:txBody>
      </p:sp>
      <p:sp>
        <p:nvSpPr>
          <p:cNvPr id="11" name="Slide Number Placeholder 10">
            <a:extLst>
              <a:ext uri="{FF2B5EF4-FFF2-40B4-BE49-F238E27FC236}">
                <a16:creationId xmlns:a16="http://schemas.microsoft.com/office/drawing/2014/main" id="{8B19BAEA-021B-40FF-161B-E49668DDB6A8}"/>
              </a:ext>
            </a:extLst>
          </p:cNvPr>
          <p:cNvSpPr>
            <a:spLocks noGrp="1"/>
          </p:cNvSpPr>
          <p:nvPr>
            <p:ph type="sldNum" sz="quarter" idx="4294967295"/>
          </p:nvPr>
        </p:nvSpPr>
        <p:spPr/>
        <p:txBody>
          <a:bodyPr/>
          <a:lstStyle/>
          <a:p>
            <a:pPr algn="r"/>
            <a:fld id="{F7021451-1387-4CA6-816F-3879F97B5CBC}" type="slidenum">
              <a:rPr lang="en-US" b="0" smtClean="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Key findings (descriptive)</a:t>
            </a:r>
            <a:endParaRPr lang="en-US" sz="2600" dirty="0"/>
          </a:p>
        </p:txBody>
      </p:sp>
      <p:sp>
        <p:nvSpPr>
          <p:cNvPr id="3" name="Finding card 1"/>
          <p:cNvSpPr/>
          <p:nvPr/>
        </p:nvSpPr>
        <p:spPr>
          <a:xfrm>
            <a:off x="457200" y="1024128"/>
            <a:ext cx="4023360" cy="1645920"/>
          </a:xfrm>
          <a:prstGeom prst="rect">
            <a:avLst/>
          </a:prstGeom>
          <a:solidFill>
            <a:srgbClr val="FFFFFF"/>
          </a:solidFill>
          <a:ln w="9525">
            <a:solidFill>
              <a:srgbClr val="C9D6CC"/>
            </a:solidFill>
            <a:prstDash val="solid"/>
          </a:ln>
        </p:spPr>
      </p:sp>
      <p:sp>
        <p:nvSpPr>
          <p:cNvPr id="4" name="Card accent 1"/>
          <p:cNvSpPr/>
          <p:nvPr/>
        </p:nvSpPr>
        <p:spPr>
          <a:xfrm>
            <a:off x="457200" y="1024128"/>
            <a:ext cx="64008" cy="1645920"/>
          </a:xfrm>
          <a:prstGeom prst="rect">
            <a:avLst/>
          </a:prstGeom>
          <a:solidFill>
            <a:srgbClr val="F2B705"/>
          </a:solidFill>
          <a:ln/>
        </p:spPr>
      </p:sp>
      <p:sp>
        <p:nvSpPr>
          <p:cNvPr id="5" name="Text 3"/>
          <p:cNvSpPr txBox="1"/>
          <p:nvPr/>
        </p:nvSpPr>
        <p:spPr>
          <a:xfrm>
            <a:off x="685800" y="1097280"/>
            <a:ext cx="2286000" cy="457200"/>
          </a:xfrm>
          <a:prstGeom prst="rect">
            <a:avLst/>
          </a:prstGeom>
          <a:noFill/>
          <a:ln/>
        </p:spPr>
        <p:txBody>
          <a:bodyPr wrap="square" lIns="0" tIns="0" rIns="0" bIns="0" rtlCol="0" anchor="ctr"/>
          <a:lstStyle/>
          <a:p>
            <a:pPr marL="0" indent="0">
              <a:buNone/>
            </a:pPr>
            <a:r>
              <a:rPr lang="en-US" sz="2100" b="1" dirty="0">
                <a:solidFill>
                  <a:srgbClr val="1F4D2B"/>
                </a:solidFill>
                <a:latin typeface="Georgia" pitchFamily="34" charset="0"/>
                <a:ea typeface="Georgia" pitchFamily="34" charset="-122"/>
                <a:cs typeface="Georgia" pitchFamily="34" charset="-120"/>
              </a:rPr>
              <a:t>17.65%</a:t>
            </a:r>
            <a:endParaRPr lang="en-US" sz="2100" dirty="0"/>
          </a:p>
        </p:txBody>
      </p:sp>
      <p:sp>
        <p:nvSpPr>
          <p:cNvPr id="6" name="Text 4"/>
          <p:cNvSpPr txBox="1"/>
          <p:nvPr/>
        </p:nvSpPr>
        <p:spPr>
          <a:xfrm>
            <a:off x="3017520" y="1097280"/>
            <a:ext cx="1371600" cy="457200"/>
          </a:xfrm>
          <a:prstGeom prst="rect">
            <a:avLst/>
          </a:prstGeom>
          <a:noFill/>
          <a:ln/>
        </p:spPr>
        <p:txBody>
          <a:bodyPr wrap="square" lIns="0" tIns="0" rIns="0" bIns="0" rtlCol="0" anchor="ctr"/>
          <a:lstStyle/>
          <a:p>
            <a:pPr marL="0" indent="0">
              <a:buNone/>
            </a:pPr>
            <a:r>
              <a:rPr lang="en-US" sz="1100" b="1" dirty="0">
                <a:solidFill>
                  <a:srgbClr val="2E7D4F"/>
                </a:solidFill>
                <a:latin typeface="Calibri" pitchFamily="34" charset="0"/>
                <a:ea typeface="Calibri" pitchFamily="34" charset="-122"/>
                <a:cs typeface="Calibri" pitchFamily="34" charset="-120"/>
              </a:rPr>
              <a:t>Solar + wind share of demand</a:t>
            </a:r>
            <a:endParaRPr lang="en-US" sz="1100" dirty="0"/>
          </a:p>
        </p:txBody>
      </p:sp>
      <p:sp>
        <p:nvSpPr>
          <p:cNvPr id="7" name="Text 5"/>
          <p:cNvSpPr txBox="1"/>
          <p:nvPr/>
        </p:nvSpPr>
        <p:spPr>
          <a:xfrm>
            <a:off x="685800" y="1645920"/>
            <a:ext cx="3657600" cy="960120"/>
          </a:xfrm>
          <a:prstGeom prst="rect">
            <a:avLst/>
          </a:prstGeom>
          <a:noFill/>
          <a:ln/>
        </p:spPr>
        <p:txBody>
          <a:bodyPr wrap="square" lIns="0" tIns="0" rIns="0" bIns="0" rtlCol="0" anchor="t"/>
          <a:lstStyle/>
          <a:p>
            <a:pPr marL="0" indent="0">
              <a:spcAft>
                <a:spcPts val="400"/>
              </a:spcAft>
              <a:buNone/>
            </a:pPr>
            <a:r>
              <a:rPr lang="en-US" sz="1150" b="1" dirty="0">
                <a:solidFill>
                  <a:srgbClr val="1E2A22"/>
                </a:solidFill>
                <a:latin typeface="Calibri" pitchFamily="34" charset="0"/>
                <a:ea typeface="Calibri" pitchFamily="34" charset="-122"/>
                <a:cs typeface="Calibri" pitchFamily="34" charset="-120"/>
              </a:rPr>
              <a:t>Shows: </a:t>
            </a:r>
            <a:r>
              <a:rPr lang="en-US" sz="1150" dirty="0">
                <a:solidFill>
                  <a:srgbClr val="1E2A22"/>
                </a:solidFill>
                <a:latin typeface="Calibri" pitchFamily="34" charset="0"/>
                <a:ea typeface="Calibri" pitchFamily="34" charset="-122"/>
                <a:cs typeface="Calibri" pitchFamily="34" charset="-120"/>
              </a:rPr>
              <a:t>7.72 of 43.75 TWh; highest hour 36.98%; no hour below 5%.</a:t>
            </a:r>
            <a:endParaRPr lang="en-US" sz="1150" dirty="0"/>
          </a:p>
          <a:p>
            <a:pPr marL="0" indent="0">
              <a:spcAft>
                <a:spcPts val="400"/>
              </a:spcAft>
              <a:buNone/>
            </a:pPr>
            <a:r>
              <a:rPr lang="en-US" sz="1150" b="1" dirty="0">
                <a:solidFill>
                  <a:srgbClr val="1E2A22"/>
                </a:solidFill>
                <a:latin typeface="Calibri" pitchFamily="34" charset="0"/>
                <a:ea typeface="Calibri" pitchFamily="34" charset="-122"/>
                <a:cs typeface="Calibri" pitchFamily="34" charset="-120"/>
              </a:rPr>
              <a:t>Matters: </a:t>
            </a:r>
            <a:r>
              <a:rPr lang="en-US" sz="1150" dirty="0">
                <a:solidFill>
                  <a:srgbClr val="1E2A22"/>
                </a:solidFill>
                <a:latin typeface="Calibri" pitchFamily="34" charset="0"/>
                <a:ea typeface="Calibri" pitchFamily="34" charset="-122"/>
                <a:cs typeface="Calibri" pitchFamily="34" charset="-120"/>
              </a:rPr>
              <a:t>Over 82% still came from other sources, so plan around residual demand.</a:t>
            </a:r>
            <a:endParaRPr lang="en-US" sz="1150" dirty="0"/>
          </a:p>
        </p:txBody>
      </p:sp>
      <p:sp>
        <p:nvSpPr>
          <p:cNvPr id="8" name="Finding card 2"/>
          <p:cNvSpPr/>
          <p:nvPr/>
        </p:nvSpPr>
        <p:spPr>
          <a:xfrm>
            <a:off x="4663440" y="1024128"/>
            <a:ext cx="4023360" cy="1645920"/>
          </a:xfrm>
          <a:prstGeom prst="rect">
            <a:avLst/>
          </a:prstGeom>
          <a:solidFill>
            <a:srgbClr val="FFFFFF"/>
          </a:solidFill>
          <a:ln w="9525">
            <a:solidFill>
              <a:srgbClr val="C9D6CC"/>
            </a:solidFill>
            <a:prstDash val="solid"/>
          </a:ln>
        </p:spPr>
      </p:sp>
      <p:sp>
        <p:nvSpPr>
          <p:cNvPr id="9" name="Card accent 2"/>
          <p:cNvSpPr/>
          <p:nvPr/>
        </p:nvSpPr>
        <p:spPr>
          <a:xfrm>
            <a:off x="4663440" y="1024128"/>
            <a:ext cx="64008" cy="1645920"/>
          </a:xfrm>
          <a:prstGeom prst="rect">
            <a:avLst/>
          </a:prstGeom>
          <a:solidFill>
            <a:srgbClr val="F2B705"/>
          </a:solidFill>
          <a:ln/>
        </p:spPr>
      </p:sp>
      <p:sp>
        <p:nvSpPr>
          <p:cNvPr id="10" name="Text 8"/>
          <p:cNvSpPr txBox="1"/>
          <p:nvPr/>
        </p:nvSpPr>
        <p:spPr>
          <a:xfrm>
            <a:off x="4892040" y="1097280"/>
            <a:ext cx="2286000" cy="457200"/>
          </a:xfrm>
          <a:prstGeom prst="rect">
            <a:avLst/>
          </a:prstGeom>
          <a:noFill/>
          <a:ln/>
        </p:spPr>
        <p:txBody>
          <a:bodyPr wrap="square" lIns="0" tIns="0" rIns="0" bIns="0" rtlCol="0" anchor="ctr"/>
          <a:lstStyle/>
          <a:p>
            <a:pPr marL="0" indent="0">
              <a:buNone/>
            </a:pPr>
            <a:r>
              <a:rPr lang="en-US" sz="2100" b="1" dirty="0">
                <a:solidFill>
                  <a:srgbClr val="1F4D2B"/>
                </a:solidFill>
                <a:latin typeface="Georgia" pitchFamily="34" charset="0"/>
                <a:ea typeface="Georgia" pitchFamily="34" charset="-122"/>
                <a:cs typeface="Georgia" pitchFamily="34" charset="-120"/>
              </a:rPr>
              <a:t>61.71 GW</a:t>
            </a:r>
            <a:endParaRPr lang="en-US" sz="2100" dirty="0"/>
          </a:p>
        </p:txBody>
      </p:sp>
      <p:sp>
        <p:nvSpPr>
          <p:cNvPr id="11" name="Text 9"/>
          <p:cNvSpPr txBox="1"/>
          <p:nvPr/>
        </p:nvSpPr>
        <p:spPr>
          <a:xfrm>
            <a:off x="7223760" y="1097280"/>
            <a:ext cx="1371600" cy="457200"/>
          </a:xfrm>
          <a:prstGeom prst="rect">
            <a:avLst/>
          </a:prstGeom>
          <a:noFill/>
          <a:ln/>
        </p:spPr>
        <p:txBody>
          <a:bodyPr wrap="square" lIns="0" tIns="0" rIns="0" bIns="0" rtlCol="0" anchor="ctr"/>
          <a:lstStyle/>
          <a:p>
            <a:pPr marL="0" indent="0">
              <a:buNone/>
            </a:pPr>
            <a:r>
              <a:rPr lang="en-US" sz="1100" b="1" dirty="0">
                <a:solidFill>
                  <a:srgbClr val="2E7D4F"/>
                </a:solidFill>
                <a:latin typeface="Calibri" pitchFamily="34" charset="0"/>
                <a:ea typeface="Calibri" pitchFamily="34" charset="-122"/>
                <a:cs typeface="Calibri" pitchFamily="34" charset="-120"/>
              </a:rPr>
              <a:t>Peak solar, near zero overnight</a:t>
            </a:r>
            <a:endParaRPr lang="en-US" sz="1100" dirty="0"/>
          </a:p>
        </p:txBody>
      </p:sp>
      <p:sp>
        <p:nvSpPr>
          <p:cNvPr id="12" name="Text 10"/>
          <p:cNvSpPr txBox="1"/>
          <p:nvPr/>
        </p:nvSpPr>
        <p:spPr>
          <a:xfrm>
            <a:off x="4892040" y="1645920"/>
            <a:ext cx="3657600" cy="960120"/>
          </a:xfrm>
          <a:prstGeom prst="rect">
            <a:avLst/>
          </a:prstGeom>
          <a:noFill/>
          <a:ln/>
        </p:spPr>
        <p:txBody>
          <a:bodyPr wrap="square" lIns="0" tIns="0" rIns="0" bIns="0" rtlCol="0" anchor="t"/>
          <a:lstStyle/>
          <a:p>
            <a:pPr marL="0" indent="0">
              <a:spcAft>
                <a:spcPts val="400"/>
              </a:spcAft>
              <a:buNone/>
            </a:pPr>
            <a:r>
              <a:rPr lang="en-US" sz="1150" b="1" dirty="0">
                <a:solidFill>
                  <a:srgbClr val="1E2A22"/>
                </a:solidFill>
                <a:latin typeface="Calibri" pitchFamily="34" charset="0"/>
                <a:ea typeface="Calibri" pitchFamily="34" charset="-122"/>
                <a:cs typeface="Calibri" pitchFamily="34" charset="-120"/>
              </a:rPr>
              <a:t>Shows: </a:t>
            </a:r>
            <a:r>
              <a:rPr lang="en-US" sz="1150" dirty="0">
                <a:solidFill>
                  <a:srgbClr val="1E2A22"/>
                </a:solidFill>
                <a:latin typeface="Calibri" pitchFamily="34" charset="0"/>
                <a:ea typeface="Calibri" pitchFamily="34" charset="-122"/>
                <a:cs typeface="Calibri" pitchFamily="34" charset="-120"/>
              </a:rPr>
              <a:t>Solar is concentrated in daylight hours.</a:t>
            </a:r>
            <a:endParaRPr lang="en-US" sz="1150" dirty="0"/>
          </a:p>
          <a:p>
            <a:pPr marL="0" indent="0">
              <a:spcAft>
                <a:spcPts val="400"/>
              </a:spcAft>
              <a:buNone/>
            </a:pPr>
            <a:r>
              <a:rPr lang="en-US" sz="1150" b="1" dirty="0">
                <a:solidFill>
                  <a:srgbClr val="1E2A22"/>
                </a:solidFill>
                <a:latin typeface="Calibri" pitchFamily="34" charset="0"/>
                <a:ea typeface="Calibri" pitchFamily="34" charset="-122"/>
                <a:cs typeface="Calibri" pitchFamily="34" charset="-120"/>
              </a:rPr>
              <a:t>Matters: </a:t>
            </a:r>
            <a:r>
              <a:rPr lang="en-US" sz="1150" dirty="0">
                <a:solidFill>
                  <a:srgbClr val="1E2A22"/>
                </a:solidFill>
                <a:latin typeface="Calibri" pitchFamily="34" charset="0"/>
                <a:ea typeface="Calibri" pitchFamily="34" charset="-122"/>
                <a:cs typeface="Calibri" pitchFamily="34" charset="-120"/>
              </a:rPr>
              <a:t>Evening and night supply relies on wind and non-solar resources.</a:t>
            </a:r>
            <a:endParaRPr lang="en-US" sz="1150" dirty="0"/>
          </a:p>
        </p:txBody>
      </p:sp>
      <p:sp>
        <p:nvSpPr>
          <p:cNvPr id="13" name="Finding card 3"/>
          <p:cNvSpPr/>
          <p:nvPr/>
        </p:nvSpPr>
        <p:spPr>
          <a:xfrm>
            <a:off x="457200" y="2807208"/>
            <a:ext cx="4023360" cy="1645920"/>
          </a:xfrm>
          <a:prstGeom prst="rect">
            <a:avLst/>
          </a:prstGeom>
          <a:solidFill>
            <a:srgbClr val="FFFFFF"/>
          </a:solidFill>
          <a:ln w="9525">
            <a:solidFill>
              <a:srgbClr val="C9D6CC"/>
            </a:solidFill>
            <a:prstDash val="solid"/>
          </a:ln>
        </p:spPr>
      </p:sp>
      <p:sp>
        <p:nvSpPr>
          <p:cNvPr id="14" name="Card accent 3"/>
          <p:cNvSpPr/>
          <p:nvPr/>
        </p:nvSpPr>
        <p:spPr>
          <a:xfrm>
            <a:off x="457200" y="2807208"/>
            <a:ext cx="64008" cy="1645920"/>
          </a:xfrm>
          <a:prstGeom prst="rect">
            <a:avLst/>
          </a:prstGeom>
          <a:solidFill>
            <a:srgbClr val="F2B705"/>
          </a:solidFill>
          <a:ln/>
        </p:spPr>
      </p:sp>
      <p:sp>
        <p:nvSpPr>
          <p:cNvPr id="15" name="Text 13"/>
          <p:cNvSpPr txBox="1"/>
          <p:nvPr/>
        </p:nvSpPr>
        <p:spPr>
          <a:xfrm>
            <a:off x="685800" y="2880360"/>
            <a:ext cx="2286000" cy="457200"/>
          </a:xfrm>
          <a:prstGeom prst="rect">
            <a:avLst/>
          </a:prstGeom>
          <a:noFill/>
          <a:ln/>
        </p:spPr>
        <p:txBody>
          <a:bodyPr wrap="square" lIns="0" tIns="0" rIns="0" bIns="0" rtlCol="0" anchor="ctr"/>
          <a:lstStyle/>
          <a:p>
            <a:pPr marL="0" indent="0">
              <a:buNone/>
            </a:pPr>
            <a:r>
              <a:rPr lang="en-US" sz="2100" b="1" dirty="0">
                <a:solidFill>
                  <a:srgbClr val="1F4D2B"/>
                </a:solidFill>
                <a:latin typeface="Georgia" pitchFamily="34" charset="0"/>
                <a:ea typeface="Georgia" pitchFamily="34" charset="-122"/>
                <a:cs typeface="Georgia" pitchFamily="34" charset="-120"/>
              </a:rPr>
              <a:t>+29.11 GW/h</a:t>
            </a:r>
            <a:endParaRPr lang="en-US" sz="2100" dirty="0"/>
          </a:p>
        </p:txBody>
      </p:sp>
      <p:sp>
        <p:nvSpPr>
          <p:cNvPr id="16" name="Text 14"/>
          <p:cNvSpPr txBox="1"/>
          <p:nvPr/>
        </p:nvSpPr>
        <p:spPr>
          <a:xfrm>
            <a:off x="3017520" y="2880360"/>
            <a:ext cx="1371600" cy="457200"/>
          </a:xfrm>
          <a:prstGeom prst="rect">
            <a:avLst/>
          </a:prstGeom>
          <a:noFill/>
          <a:ln/>
        </p:spPr>
        <p:txBody>
          <a:bodyPr wrap="square" lIns="0" tIns="0" rIns="0" bIns="0" rtlCol="0" anchor="ctr"/>
          <a:lstStyle/>
          <a:p>
            <a:pPr marL="0" indent="0">
              <a:buNone/>
            </a:pPr>
            <a:r>
              <a:rPr lang="en-US" sz="1100" b="1" dirty="0">
                <a:solidFill>
                  <a:srgbClr val="2E7D4F"/>
                </a:solidFill>
                <a:latin typeface="Calibri" pitchFamily="34" charset="0"/>
                <a:ea typeface="Calibri" pitchFamily="34" charset="-122"/>
                <a:cs typeface="Calibri" pitchFamily="34" charset="-120"/>
              </a:rPr>
              <a:t>Largest one-hour rise in residual demand</a:t>
            </a:r>
            <a:endParaRPr lang="en-US" sz="1100" dirty="0"/>
          </a:p>
        </p:txBody>
      </p:sp>
      <p:sp>
        <p:nvSpPr>
          <p:cNvPr id="17" name="Text 15"/>
          <p:cNvSpPr txBox="1"/>
          <p:nvPr/>
        </p:nvSpPr>
        <p:spPr>
          <a:xfrm>
            <a:off x="685800" y="3429000"/>
            <a:ext cx="3657600" cy="960120"/>
          </a:xfrm>
          <a:prstGeom prst="rect">
            <a:avLst/>
          </a:prstGeom>
          <a:noFill/>
          <a:ln/>
        </p:spPr>
        <p:txBody>
          <a:bodyPr wrap="square" lIns="0" tIns="0" rIns="0" bIns="0" rtlCol="0" anchor="t"/>
          <a:lstStyle/>
          <a:p>
            <a:pPr marL="0" indent="0">
              <a:spcAft>
                <a:spcPts val="400"/>
              </a:spcAft>
              <a:buNone/>
            </a:pPr>
            <a:r>
              <a:rPr lang="en-US" sz="1150" b="1" dirty="0">
                <a:solidFill>
                  <a:srgbClr val="1E2A22"/>
                </a:solidFill>
                <a:latin typeface="Calibri" pitchFamily="34" charset="0"/>
                <a:ea typeface="Calibri" pitchFamily="34" charset="-122"/>
                <a:cs typeface="Calibri" pitchFamily="34" charset="-120"/>
              </a:rPr>
              <a:t>Shows: </a:t>
            </a:r>
            <a:r>
              <a:rPr lang="en-US" sz="1150" dirty="0">
                <a:solidFill>
                  <a:srgbClr val="1E2A22"/>
                </a:solidFill>
                <a:latin typeface="Calibri" pitchFamily="34" charset="0"/>
                <a:ea typeface="Calibri" pitchFamily="34" charset="-122"/>
                <a:cs typeface="Calibri" pitchFamily="34" charset="-120"/>
              </a:rPr>
              <a:t>Hourly ramp distribution has a right tail up to about +30 GW.</a:t>
            </a:r>
            <a:endParaRPr lang="en-US" sz="1150" dirty="0"/>
          </a:p>
          <a:p>
            <a:pPr marL="0" indent="0">
              <a:spcAft>
                <a:spcPts val="400"/>
              </a:spcAft>
              <a:buNone/>
            </a:pPr>
            <a:r>
              <a:rPr lang="en-US" sz="1150" b="1" dirty="0">
                <a:solidFill>
                  <a:srgbClr val="1E2A22"/>
                </a:solidFill>
                <a:latin typeface="Calibri" pitchFamily="34" charset="0"/>
                <a:ea typeface="Calibri" pitchFamily="34" charset="-122"/>
                <a:cs typeface="Calibri" pitchFamily="34" charset="-120"/>
              </a:rPr>
              <a:t>Matters: </a:t>
            </a:r>
            <a:r>
              <a:rPr lang="en-US" sz="1150" dirty="0">
                <a:solidFill>
                  <a:srgbClr val="1E2A22"/>
                </a:solidFill>
                <a:latin typeface="Calibri" pitchFamily="34" charset="0"/>
                <a:ea typeface="Calibri" pitchFamily="34" charset="-122"/>
                <a:cs typeface="Calibri" pitchFamily="34" charset="-120"/>
              </a:rPr>
              <a:t>Dispatchable sources and storage need ramping flexibility.</a:t>
            </a:r>
            <a:endParaRPr lang="en-US" sz="1150" dirty="0"/>
          </a:p>
        </p:txBody>
      </p:sp>
      <p:sp>
        <p:nvSpPr>
          <p:cNvPr id="18" name="Finding card 4"/>
          <p:cNvSpPr/>
          <p:nvPr/>
        </p:nvSpPr>
        <p:spPr>
          <a:xfrm>
            <a:off x="4663440" y="2807208"/>
            <a:ext cx="4023360" cy="1645920"/>
          </a:xfrm>
          <a:prstGeom prst="rect">
            <a:avLst/>
          </a:prstGeom>
          <a:solidFill>
            <a:srgbClr val="FFFFFF"/>
          </a:solidFill>
          <a:ln w="9525">
            <a:solidFill>
              <a:srgbClr val="C9D6CC"/>
            </a:solidFill>
            <a:prstDash val="solid"/>
          </a:ln>
        </p:spPr>
      </p:sp>
      <p:sp>
        <p:nvSpPr>
          <p:cNvPr id="19" name="Card accent 4"/>
          <p:cNvSpPr/>
          <p:nvPr/>
        </p:nvSpPr>
        <p:spPr>
          <a:xfrm>
            <a:off x="4663440" y="2807208"/>
            <a:ext cx="64008" cy="1645920"/>
          </a:xfrm>
          <a:prstGeom prst="rect">
            <a:avLst/>
          </a:prstGeom>
          <a:solidFill>
            <a:srgbClr val="3B82A6"/>
          </a:solidFill>
          <a:ln/>
        </p:spPr>
      </p:sp>
      <p:sp>
        <p:nvSpPr>
          <p:cNvPr id="20" name="Text 18"/>
          <p:cNvSpPr txBox="1"/>
          <p:nvPr/>
        </p:nvSpPr>
        <p:spPr>
          <a:xfrm>
            <a:off x="4892040" y="2880360"/>
            <a:ext cx="2286000" cy="457200"/>
          </a:xfrm>
          <a:prstGeom prst="rect">
            <a:avLst/>
          </a:prstGeom>
          <a:noFill/>
          <a:ln/>
        </p:spPr>
        <p:txBody>
          <a:bodyPr wrap="square" lIns="0" tIns="0" rIns="0" bIns="0" rtlCol="0" anchor="ctr"/>
          <a:lstStyle/>
          <a:p>
            <a:pPr marL="0" indent="0">
              <a:buNone/>
            </a:pPr>
            <a:r>
              <a:rPr lang="en-US" sz="2100" b="1" dirty="0">
                <a:solidFill>
                  <a:srgbClr val="1F4D2B"/>
                </a:solidFill>
                <a:latin typeface="Georgia" pitchFamily="34" charset="0"/>
                <a:ea typeface="Georgia" pitchFamily="34" charset="-122"/>
                <a:cs typeface="Georgia" pitchFamily="34" charset="-120"/>
              </a:rPr>
              <a:t>6.16%</a:t>
            </a:r>
            <a:endParaRPr lang="en-US" sz="2100" dirty="0"/>
          </a:p>
        </p:txBody>
      </p:sp>
      <p:sp>
        <p:nvSpPr>
          <p:cNvPr id="21" name="Text 19"/>
          <p:cNvSpPr txBox="1"/>
          <p:nvPr/>
        </p:nvSpPr>
        <p:spPr>
          <a:xfrm>
            <a:off x="7223760" y="2880360"/>
            <a:ext cx="1371600" cy="457200"/>
          </a:xfrm>
          <a:prstGeom prst="rect">
            <a:avLst/>
          </a:prstGeom>
          <a:noFill/>
          <a:ln/>
        </p:spPr>
        <p:txBody>
          <a:bodyPr wrap="square" lIns="0" tIns="0" rIns="0" bIns="0" rtlCol="0" anchor="ctr"/>
          <a:lstStyle/>
          <a:p>
            <a:pPr marL="0" indent="0">
              <a:buNone/>
            </a:pPr>
            <a:r>
              <a:rPr lang="en-US" sz="1100" b="1" dirty="0">
                <a:solidFill>
                  <a:srgbClr val="2E7D4F"/>
                </a:solidFill>
                <a:latin typeface="Calibri" pitchFamily="34" charset="0"/>
                <a:ea typeface="Calibri" pitchFamily="34" charset="-122"/>
                <a:cs typeface="Calibri" pitchFamily="34" charset="-120"/>
              </a:rPr>
              <a:t>Holdout MAPE, daily demand forecast</a:t>
            </a:r>
            <a:endParaRPr lang="en-US" sz="1100" dirty="0"/>
          </a:p>
        </p:txBody>
      </p:sp>
      <p:sp>
        <p:nvSpPr>
          <p:cNvPr id="22" name="Text 20"/>
          <p:cNvSpPr txBox="1"/>
          <p:nvPr/>
        </p:nvSpPr>
        <p:spPr>
          <a:xfrm>
            <a:off x="4892040" y="3429000"/>
            <a:ext cx="3657600" cy="960120"/>
          </a:xfrm>
          <a:prstGeom prst="rect">
            <a:avLst/>
          </a:prstGeom>
          <a:noFill/>
          <a:ln/>
        </p:spPr>
        <p:txBody>
          <a:bodyPr wrap="square" lIns="0" tIns="0" rIns="0" bIns="0" rtlCol="0" anchor="t"/>
          <a:lstStyle/>
          <a:p>
            <a:pPr marL="0" indent="0">
              <a:spcAft>
                <a:spcPts val="400"/>
              </a:spcAft>
              <a:buNone/>
            </a:pPr>
            <a:r>
              <a:rPr lang="en-US" sz="1150" b="1" dirty="0">
                <a:solidFill>
                  <a:srgbClr val="1E2A22"/>
                </a:solidFill>
                <a:latin typeface="Calibri" pitchFamily="34" charset="0"/>
                <a:ea typeface="Calibri" pitchFamily="34" charset="-122"/>
                <a:cs typeface="Calibri" pitchFamily="34" charset="-120"/>
              </a:rPr>
              <a:t>Shows: </a:t>
            </a:r>
            <a:r>
              <a:rPr lang="en-US" sz="1150" dirty="0">
                <a:solidFill>
                  <a:srgbClr val="1E2A22"/>
                </a:solidFill>
                <a:latin typeface="Calibri" pitchFamily="34" charset="0"/>
                <a:ea typeface="Calibri" pitchFamily="34" charset="-122"/>
                <a:cs typeface="Calibri" pitchFamily="34" charset="-120"/>
              </a:rPr>
              <a:t>14-day horizon, 0.15 holdout; RMSE 15.53 GW.</a:t>
            </a:r>
            <a:endParaRPr lang="en-US" sz="1150" dirty="0"/>
          </a:p>
          <a:p>
            <a:pPr marL="0" indent="0">
              <a:spcAft>
                <a:spcPts val="400"/>
              </a:spcAft>
              <a:buNone/>
            </a:pPr>
            <a:r>
              <a:rPr lang="en-US" sz="1150" b="1" dirty="0">
                <a:solidFill>
                  <a:srgbClr val="1E2A22"/>
                </a:solidFill>
                <a:latin typeface="Calibri" pitchFamily="34" charset="0"/>
                <a:ea typeface="Calibri" pitchFamily="34" charset="-122"/>
                <a:cs typeface="Calibri" pitchFamily="34" charset="-120"/>
              </a:rPr>
              <a:t>Matters: </a:t>
            </a:r>
            <a:r>
              <a:rPr lang="en-US" sz="1150" dirty="0">
                <a:solidFill>
                  <a:srgbClr val="1E2A22"/>
                </a:solidFill>
                <a:latin typeface="Calibri" pitchFamily="34" charset="0"/>
                <a:ea typeface="Calibri" pitchFamily="34" charset="-122"/>
                <a:cs typeface="Calibri" pitchFamily="34" charset="-120"/>
              </a:rPr>
              <a:t>Indicative only: no benchmark forecast is reported.</a:t>
            </a:r>
            <a:endParaRPr lang="en-US" sz="1150" dirty="0"/>
          </a:p>
        </p:txBody>
      </p:sp>
      <p:sp>
        <p:nvSpPr>
          <p:cNvPr id="23" name="Text 21"/>
          <p:cNvSpPr txBox="1"/>
          <p:nvPr/>
        </p:nvSpPr>
        <p:spPr>
          <a:xfrm>
            <a:off x="457200" y="4553712"/>
            <a:ext cx="8229600" cy="228600"/>
          </a:xfrm>
          <a:prstGeom prst="rect">
            <a:avLst/>
          </a:prstGeom>
          <a:noFill/>
          <a:ln/>
        </p:spPr>
        <p:txBody>
          <a:bodyPr wrap="square" lIns="0" tIns="0" rIns="0" bIns="0" rtlCol="0" anchor="ctr"/>
          <a:lstStyle/>
          <a:p>
            <a:pPr marL="0" indent="0">
              <a:buNone/>
            </a:pPr>
            <a:r>
              <a:rPr lang="en-US" sz="1050" dirty="0">
                <a:solidFill>
                  <a:srgbClr val="5B6B60"/>
                </a:solidFill>
                <a:latin typeface="Calibri" pitchFamily="34" charset="0"/>
                <a:ea typeface="Calibri" pitchFamily="34" charset="-122"/>
                <a:cs typeface="Calibri" pitchFamily="34" charset="-120"/>
              </a:rPr>
              <a:t>Descriptive results for 25 May – 24 Jun 2025, weekends only (9 days). No causal claims; “clean” means solar + wind only.</a:t>
            </a:r>
            <a:endParaRPr lang="en-US" sz="1050" dirty="0"/>
          </a:p>
        </p:txBody>
      </p:sp>
      <p:sp>
        <p:nvSpPr>
          <p:cNvPr id="24" name="Slide Number Placeholder 23">
            <a:extLst>
              <a:ext uri="{FF2B5EF4-FFF2-40B4-BE49-F238E27FC236}">
                <a16:creationId xmlns:a16="http://schemas.microsoft.com/office/drawing/2014/main" id="{98F90EE8-B473-368B-D8D7-9427EF060912}"/>
              </a:ext>
            </a:extLst>
          </p:cNvPr>
          <p:cNvSpPr>
            <a:spLocks noGrp="1"/>
          </p:cNvSpPr>
          <p:nvPr>
            <p:ph type="sldNum" sz="quarter" idx="4294967295"/>
          </p:nvPr>
        </p:nvSpPr>
        <p:spPr/>
        <p:txBody>
          <a:bodyPr/>
          <a:lstStyle/>
          <a:p>
            <a:pPr algn="r"/>
            <a:fld id="{F7021451-1387-4CA6-816F-3879F97B5CBC}" type="slidenum">
              <a:rPr lang="en-US" b="0" smtClean="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Recommendations (proposals only)</a:t>
            </a:r>
            <a:endParaRPr lang="en-US" sz="2600" dirty="0"/>
          </a:p>
        </p:txBody>
      </p:sp>
      <p:sp>
        <p:nvSpPr>
          <p:cNvPr id="3" name="Rec row 1"/>
          <p:cNvSpPr/>
          <p:nvPr/>
        </p:nvSpPr>
        <p:spPr>
          <a:xfrm>
            <a:off x="457200" y="1024128"/>
            <a:ext cx="8229600" cy="731520"/>
          </a:xfrm>
          <a:prstGeom prst="rect">
            <a:avLst/>
          </a:prstGeom>
          <a:solidFill>
            <a:srgbClr val="FFFFFF"/>
          </a:solidFill>
          <a:ln w="9525">
            <a:solidFill>
              <a:srgbClr val="C9D6CC"/>
            </a:solidFill>
            <a:prstDash val="solid"/>
          </a:ln>
        </p:spPr>
      </p:sp>
      <p:sp>
        <p:nvSpPr>
          <p:cNvPr id="4" name="Rec num 1"/>
          <p:cNvSpPr/>
          <p:nvPr/>
        </p:nvSpPr>
        <p:spPr>
          <a:xfrm>
            <a:off x="594360" y="1197864"/>
            <a:ext cx="384048" cy="384048"/>
          </a:xfrm>
          <a:prstGeom prst="ellipse">
            <a:avLst/>
          </a:prstGeom>
          <a:solidFill>
            <a:srgbClr val="1F4D2B"/>
          </a:solidFill>
          <a:ln/>
        </p:spPr>
      </p:sp>
      <p:sp>
        <p:nvSpPr>
          <p:cNvPr id="5" name="Text 3"/>
          <p:cNvSpPr txBox="1"/>
          <p:nvPr/>
        </p:nvSpPr>
        <p:spPr>
          <a:xfrm>
            <a:off x="594360" y="119786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1</a:t>
            </a:r>
            <a:endParaRPr lang="en-US" sz="1400" dirty="0"/>
          </a:p>
        </p:txBody>
      </p:sp>
      <p:sp>
        <p:nvSpPr>
          <p:cNvPr id="6" name="Text 4"/>
          <p:cNvSpPr txBox="1"/>
          <p:nvPr/>
        </p:nvSpPr>
        <p:spPr>
          <a:xfrm>
            <a:off x="1143000" y="1069848"/>
            <a:ext cx="4572000" cy="640080"/>
          </a:xfrm>
          <a:prstGeom prst="rect">
            <a:avLst/>
          </a:prstGeom>
          <a:noFill/>
          <a:ln/>
        </p:spPr>
        <p:txBody>
          <a:bodyPr wrap="square" lIns="0" tIns="0" rIns="0" bIns="0" rtlCol="0" anchor="ctr"/>
          <a:lstStyle/>
          <a:p>
            <a:pPr marL="0" indent="0">
              <a:buNone/>
            </a:pPr>
            <a:r>
              <a:rPr lang="en-US" sz="1400" b="1" dirty="0">
                <a:solidFill>
                  <a:srgbClr val="1F4D2B"/>
                </a:solidFill>
                <a:latin typeface="Calibri" pitchFamily="34" charset="0"/>
                <a:ea typeface="Calibri" pitchFamily="34" charset="-122"/>
                <a:cs typeface="Calibri" pitchFamily="34" charset="-120"/>
              </a:rPr>
              <a:t>Evaluate storage that shifts midday solar into the evening</a:t>
            </a:r>
            <a:endParaRPr lang="en-US" sz="1400" dirty="0"/>
          </a:p>
        </p:txBody>
      </p:sp>
      <p:sp>
        <p:nvSpPr>
          <p:cNvPr id="7" name="Text 5"/>
          <p:cNvSpPr txBox="1"/>
          <p:nvPr/>
        </p:nvSpPr>
        <p:spPr>
          <a:xfrm>
            <a:off x="5760720" y="1069848"/>
            <a:ext cx="2834640" cy="640080"/>
          </a:xfrm>
          <a:prstGeom prst="rect">
            <a:avLst/>
          </a:prstGeom>
          <a:noFill/>
          <a:ln/>
        </p:spPr>
        <p:txBody>
          <a:bodyPr wrap="square" lIns="0" tIns="0" rIns="0" bIns="0" rtlCol="0" anchor="ctr"/>
          <a:lstStyle/>
          <a:p>
            <a:pPr marL="0" indent="0">
              <a:buNone/>
            </a:pPr>
            <a:r>
              <a:rPr lang="en-US" sz="1100" dirty="0">
                <a:solidFill>
                  <a:srgbClr val="1E2A22"/>
                </a:solidFill>
                <a:latin typeface="Calibri" pitchFamily="34" charset="0"/>
                <a:ea typeface="Calibri" pitchFamily="34" charset="-122"/>
                <a:cs typeface="Calibri" pitchFamily="34" charset="-120"/>
              </a:rPr>
              <a:t>Evidence: solar near zero after sunset; ramps up to +29.11 GW/h</a:t>
            </a:r>
            <a:endParaRPr lang="en-US" sz="1100" dirty="0"/>
          </a:p>
          <a:p>
            <a:pPr marL="0" indent="0">
              <a:buNone/>
            </a:pPr>
            <a:r>
              <a:rPr lang="en-US" sz="1100" b="1" dirty="0">
                <a:solidFill>
                  <a:srgbClr val="7A5A00"/>
                </a:solidFill>
                <a:latin typeface="Calibri" pitchFamily="34" charset="0"/>
                <a:ea typeface="Calibri" pitchFamily="34" charset="-122"/>
                <a:cs typeface="Calibri" pitchFamily="34" charset="-120"/>
              </a:rPr>
              <a:t>Needs: dispatch modelling, curtailment and cost data</a:t>
            </a:r>
            <a:endParaRPr lang="en-US" sz="1100" dirty="0"/>
          </a:p>
        </p:txBody>
      </p:sp>
      <p:sp>
        <p:nvSpPr>
          <p:cNvPr id="8" name="Rec row 2"/>
          <p:cNvSpPr/>
          <p:nvPr/>
        </p:nvSpPr>
        <p:spPr>
          <a:xfrm>
            <a:off x="457200" y="1847088"/>
            <a:ext cx="8229600" cy="731520"/>
          </a:xfrm>
          <a:prstGeom prst="rect">
            <a:avLst/>
          </a:prstGeom>
          <a:solidFill>
            <a:srgbClr val="FFFFFF"/>
          </a:solidFill>
          <a:ln w="9525">
            <a:solidFill>
              <a:srgbClr val="C9D6CC"/>
            </a:solidFill>
            <a:prstDash val="solid"/>
          </a:ln>
        </p:spPr>
      </p:sp>
      <p:sp>
        <p:nvSpPr>
          <p:cNvPr id="9" name="Rec num 2"/>
          <p:cNvSpPr/>
          <p:nvPr/>
        </p:nvSpPr>
        <p:spPr>
          <a:xfrm>
            <a:off x="594360" y="2020824"/>
            <a:ext cx="384048" cy="384048"/>
          </a:xfrm>
          <a:prstGeom prst="ellipse">
            <a:avLst/>
          </a:prstGeom>
          <a:solidFill>
            <a:srgbClr val="1F4D2B"/>
          </a:solidFill>
          <a:ln/>
        </p:spPr>
      </p:sp>
      <p:sp>
        <p:nvSpPr>
          <p:cNvPr id="10" name="Text 8"/>
          <p:cNvSpPr txBox="1"/>
          <p:nvPr/>
        </p:nvSpPr>
        <p:spPr>
          <a:xfrm>
            <a:off x="594360" y="202082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2</a:t>
            </a:r>
            <a:endParaRPr lang="en-US" sz="1400" dirty="0"/>
          </a:p>
        </p:txBody>
      </p:sp>
      <p:sp>
        <p:nvSpPr>
          <p:cNvPr id="11" name="Text 9"/>
          <p:cNvSpPr txBox="1"/>
          <p:nvPr/>
        </p:nvSpPr>
        <p:spPr>
          <a:xfrm>
            <a:off x="1143000" y="1892808"/>
            <a:ext cx="4572000" cy="640080"/>
          </a:xfrm>
          <a:prstGeom prst="rect">
            <a:avLst/>
          </a:prstGeom>
          <a:noFill/>
          <a:ln/>
        </p:spPr>
        <p:txBody>
          <a:bodyPr wrap="square" lIns="0" tIns="0" rIns="0" bIns="0" rtlCol="0" anchor="ctr"/>
          <a:lstStyle/>
          <a:p>
            <a:pPr marL="0" indent="0">
              <a:buNone/>
            </a:pPr>
            <a:r>
              <a:rPr lang="en-US" sz="1400" b="1" dirty="0">
                <a:solidFill>
                  <a:srgbClr val="1F4D2B"/>
                </a:solidFill>
                <a:latin typeface="Calibri" pitchFamily="34" charset="0"/>
                <a:ea typeface="Calibri" pitchFamily="34" charset="-122"/>
                <a:cs typeface="Calibri" pitchFamily="34" charset="-120"/>
              </a:rPr>
              <a:t>Plan ramping capability for the evening window</a:t>
            </a:r>
            <a:endParaRPr lang="en-US" sz="1400" dirty="0"/>
          </a:p>
        </p:txBody>
      </p:sp>
      <p:sp>
        <p:nvSpPr>
          <p:cNvPr id="12" name="Text 10"/>
          <p:cNvSpPr txBox="1"/>
          <p:nvPr/>
        </p:nvSpPr>
        <p:spPr>
          <a:xfrm>
            <a:off x="5760720" y="1892808"/>
            <a:ext cx="2834640" cy="640080"/>
          </a:xfrm>
          <a:prstGeom prst="rect">
            <a:avLst/>
          </a:prstGeom>
          <a:noFill/>
          <a:ln/>
        </p:spPr>
        <p:txBody>
          <a:bodyPr wrap="square" lIns="0" tIns="0" rIns="0" bIns="0" rtlCol="0" anchor="ctr"/>
          <a:lstStyle/>
          <a:p>
            <a:pPr marL="0" indent="0">
              <a:buNone/>
            </a:pPr>
            <a:r>
              <a:rPr lang="en-US" sz="1100" dirty="0">
                <a:solidFill>
                  <a:srgbClr val="1E2A22"/>
                </a:solidFill>
                <a:latin typeface="Calibri" pitchFamily="34" charset="0"/>
                <a:ea typeface="Calibri" pitchFamily="34" charset="-122"/>
                <a:cs typeface="Calibri" pitchFamily="34" charset="-120"/>
              </a:rPr>
              <a:t>Evidence: right tail of the hourly ramp distribution</a:t>
            </a:r>
            <a:endParaRPr lang="en-US" sz="1100" dirty="0"/>
          </a:p>
          <a:p>
            <a:pPr marL="0" indent="0">
              <a:buNone/>
            </a:pPr>
            <a:r>
              <a:rPr lang="en-US" sz="1100" b="1" dirty="0">
                <a:solidFill>
                  <a:srgbClr val="7A5A00"/>
                </a:solidFill>
                <a:latin typeface="Calibri" pitchFamily="34" charset="0"/>
                <a:ea typeface="Calibri" pitchFamily="34" charset="-122"/>
                <a:cs typeface="Calibri" pitchFamily="34" charset="-120"/>
              </a:rPr>
              <a:t>Needs: unit-level ramp limits, sub-hourly data</a:t>
            </a:r>
            <a:endParaRPr lang="en-US" sz="1100" dirty="0"/>
          </a:p>
        </p:txBody>
      </p:sp>
      <p:sp>
        <p:nvSpPr>
          <p:cNvPr id="13" name="Rec row 3"/>
          <p:cNvSpPr/>
          <p:nvPr/>
        </p:nvSpPr>
        <p:spPr>
          <a:xfrm>
            <a:off x="457200" y="2670048"/>
            <a:ext cx="8229600" cy="731520"/>
          </a:xfrm>
          <a:prstGeom prst="rect">
            <a:avLst/>
          </a:prstGeom>
          <a:solidFill>
            <a:srgbClr val="FFFFFF"/>
          </a:solidFill>
          <a:ln w="9525">
            <a:solidFill>
              <a:srgbClr val="C9D6CC"/>
            </a:solidFill>
            <a:prstDash val="solid"/>
          </a:ln>
        </p:spPr>
      </p:sp>
      <p:sp>
        <p:nvSpPr>
          <p:cNvPr id="14" name="Rec num 3"/>
          <p:cNvSpPr/>
          <p:nvPr/>
        </p:nvSpPr>
        <p:spPr>
          <a:xfrm>
            <a:off x="594360" y="2843784"/>
            <a:ext cx="384048" cy="384048"/>
          </a:xfrm>
          <a:prstGeom prst="ellipse">
            <a:avLst/>
          </a:prstGeom>
          <a:solidFill>
            <a:srgbClr val="1F4D2B"/>
          </a:solidFill>
          <a:ln/>
        </p:spPr>
      </p:sp>
      <p:sp>
        <p:nvSpPr>
          <p:cNvPr id="15" name="Text 13"/>
          <p:cNvSpPr txBox="1"/>
          <p:nvPr/>
        </p:nvSpPr>
        <p:spPr>
          <a:xfrm>
            <a:off x="594360" y="284378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3</a:t>
            </a:r>
            <a:endParaRPr lang="en-US" sz="1400" dirty="0"/>
          </a:p>
        </p:txBody>
      </p:sp>
      <p:sp>
        <p:nvSpPr>
          <p:cNvPr id="16" name="Text 14"/>
          <p:cNvSpPr txBox="1"/>
          <p:nvPr/>
        </p:nvSpPr>
        <p:spPr>
          <a:xfrm>
            <a:off x="1143000" y="2715768"/>
            <a:ext cx="4572000" cy="640080"/>
          </a:xfrm>
          <a:prstGeom prst="rect">
            <a:avLst/>
          </a:prstGeom>
          <a:noFill/>
          <a:ln/>
        </p:spPr>
        <p:txBody>
          <a:bodyPr wrap="square" lIns="0" tIns="0" rIns="0" bIns="0" rtlCol="0" anchor="ctr"/>
          <a:lstStyle/>
          <a:p>
            <a:pPr marL="0" indent="0">
              <a:buNone/>
            </a:pPr>
            <a:r>
              <a:rPr lang="en-US" sz="1400" b="1" dirty="0">
                <a:solidFill>
                  <a:srgbClr val="1F4D2B"/>
                </a:solidFill>
                <a:latin typeface="Calibri" pitchFamily="34" charset="0"/>
                <a:ea typeface="Calibri" pitchFamily="34" charset="-122"/>
                <a:cs typeface="Calibri" pitchFamily="34" charset="-120"/>
              </a:rPr>
              <a:t>Explore time-of-day load shifting</a:t>
            </a:r>
            <a:endParaRPr lang="en-US" sz="1400" dirty="0"/>
          </a:p>
        </p:txBody>
      </p:sp>
      <p:sp>
        <p:nvSpPr>
          <p:cNvPr id="17" name="Text 15"/>
          <p:cNvSpPr txBox="1"/>
          <p:nvPr/>
        </p:nvSpPr>
        <p:spPr>
          <a:xfrm>
            <a:off x="5760720" y="2715768"/>
            <a:ext cx="2834640" cy="640080"/>
          </a:xfrm>
          <a:prstGeom prst="rect">
            <a:avLst/>
          </a:prstGeom>
          <a:noFill/>
          <a:ln/>
        </p:spPr>
        <p:txBody>
          <a:bodyPr wrap="square" lIns="0" tIns="0" rIns="0" bIns="0" rtlCol="0" anchor="ctr"/>
          <a:lstStyle/>
          <a:p>
            <a:pPr marL="0" indent="0">
              <a:buNone/>
            </a:pPr>
            <a:r>
              <a:rPr lang="en-US" sz="1100" dirty="0">
                <a:solidFill>
                  <a:srgbClr val="1E2A22"/>
                </a:solidFill>
                <a:latin typeface="Calibri" pitchFamily="34" charset="0"/>
                <a:ea typeface="Calibri" pitchFamily="34" charset="-122"/>
                <a:cs typeface="Calibri" pitchFamily="34" charset="-120"/>
              </a:rPr>
              <a:t>Evidence: solar output concentrated around midday</a:t>
            </a:r>
            <a:endParaRPr lang="en-US" sz="1100" dirty="0"/>
          </a:p>
          <a:p>
            <a:pPr marL="0" indent="0">
              <a:buNone/>
            </a:pPr>
            <a:r>
              <a:rPr lang="en-US" sz="1100" b="1" dirty="0">
                <a:solidFill>
                  <a:srgbClr val="7A5A00"/>
                </a:solidFill>
                <a:latin typeface="Calibri" pitchFamily="34" charset="0"/>
                <a:ea typeface="Calibri" pitchFamily="34" charset="-122"/>
                <a:cs typeface="Calibri" pitchFamily="34" charset="-120"/>
              </a:rPr>
              <a:t>Needs: flexible-load shares and tariff data</a:t>
            </a:r>
            <a:endParaRPr lang="en-US" sz="1100" dirty="0"/>
          </a:p>
        </p:txBody>
      </p:sp>
      <p:sp>
        <p:nvSpPr>
          <p:cNvPr id="18" name="Rec row 4"/>
          <p:cNvSpPr/>
          <p:nvPr/>
        </p:nvSpPr>
        <p:spPr>
          <a:xfrm>
            <a:off x="457200" y="3493008"/>
            <a:ext cx="8229600" cy="731520"/>
          </a:xfrm>
          <a:prstGeom prst="rect">
            <a:avLst/>
          </a:prstGeom>
          <a:solidFill>
            <a:srgbClr val="FFFFFF"/>
          </a:solidFill>
          <a:ln w="9525">
            <a:solidFill>
              <a:srgbClr val="C9D6CC"/>
            </a:solidFill>
            <a:prstDash val="solid"/>
          </a:ln>
        </p:spPr>
      </p:sp>
      <p:sp>
        <p:nvSpPr>
          <p:cNvPr id="19" name="Rec num 4"/>
          <p:cNvSpPr/>
          <p:nvPr/>
        </p:nvSpPr>
        <p:spPr>
          <a:xfrm>
            <a:off x="594360" y="3666744"/>
            <a:ext cx="384048" cy="384048"/>
          </a:xfrm>
          <a:prstGeom prst="ellipse">
            <a:avLst/>
          </a:prstGeom>
          <a:solidFill>
            <a:srgbClr val="1F4D2B"/>
          </a:solidFill>
          <a:ln/>
        </p:spPr>
      </p:sp>
      <p:sp>
        <p:nvSpPr>
          <p:cNvPr id="20" name="Text 18"/>
          <p:cNvSpPr txBox="1"/>
          <p:nvPr/>
        </p:nvSpPr>
        <p:spPr>
          <a:xfrm>
            <a:off x="594360" y="366674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Georgia" pitchFamily="34" charset="0"/>
                <a:ea typeface="Georgia" pitchFamily="34" charset="-122"/>
                <a:cs typeface="Georgia" pitchFamily="34" charset="-120"/>
              </a:rPr>
              <a:t>4</a:t>
            </a:r>
            <a:endParaRPr lang="en-US" sz="1400" dirty="0"/>
          </a:p>
        </p:txBody>
      </p:sp>
      <p:sp>
        <p:nvSpPr>
          <p:cNvPr id="21" name="Text 19"/>
          <p:cNvSpPr txBox="1"/>
          <p:nvPr/>
        </p:nvSpPr>
        <p:spPr>
          <a:xfrm>
            <a:off x="1143000" y="3538728"/>
            <a:ext cx="4572000" cy="640080"/>
          </a:xfrm>
          <a:prstGeom prst="rect">
            <a:avLst/>
          </a:prstGeom>
          <a:noFill/>
          <a:ln/>
        </p:spPr>
        <p:txBody>
          <a:bodyPr wrap="square" lIns="0" tIns="0" rIns="0" bIns="0" rtlCol="0" anchor="ctr"/>
          <a:lstStyle/>
          <a:p>
            <a:pPr marL="0" indent="0">
              <a:buNone/>
            </a:pPr>
            <a:r>
              <a:rPr lang="en-US" sz="1400" b="1" dirty="0">
                <a:solidFill>
                  <a:srgbClr val="1F4D2B"/>
                </a:solidFill>
                <a:latin typeface="Calibri" pitchFamily="34" charset="0"/>
                <a:ea typeface="Calibri" pitchFamily="34" charset="-122"/>
                <a:cs typeface="Calibri" pitchFamily="34" charset="-120"/>
              </a:rPr>
              <a:t>Strengthen forecasting and data</a:t>
            </a:r>
            <a:endParaRPr lang="en-US" sz="1400" dirty="0"/>
          </a:p>
        </p:txBody>
      </p:sp>
      <p:sp>
        <p:nvSpPr>
          <p:cNvPr id="22" name="Text 20"/>
          <p:cNvSpPr txBox="1"/>
          <p:nvPr/>
        </p:nvSpPr>
        <p:spPr>
          <a:xfrm>
            <a:off x="5760720" y="3538728"/>
            <a:ext cx="2834640" cy="640080"/>
          </a:xfrm>
          <a:prstGeom prst="rect">
            <a:avLst/>
          </a:prstGeom>
          <a:noFill/>
          <a:ln/>
        </p:spPr>
        <p:txBody>
          <a:bodyPr wrap="square" lIns="0" tIns="0" rIns="0" bIns="0" rtlCol="0" anchor="ctr"/>
          <a:lstStyle/>
          <a:p>
            <a:pPr marL="0" indent="0">
              <a:buNone/>
            </a:pPr>
            <a:r>
              <a:rPr lang="en-US" sz="1100" dirty="0">
                <a:solidFill>
                  <a:srgbClr val="1E2A22"/>
                </a:solidFill>
                <a:latin typeface="Calibri" pitchFamily="34" charset="0"/>
                <a:ea typeface="Calibri" pitchFamily="34" charset="-122"/>
                <a:cs typeface="Calibri" pitchFamily="34" charset="-120"/>
              </a:rPr>
              <a:t>Evidence: 6.16% MAPE with no baseline for comparison</a:t>
            </a:r>
            <a:endParaRPr lang="en-US" sz="1100" dirty="0"/>
          </a:p>
          <a:p>
            <a:pPr marL="0" indent="0">
              <a:buNone/>
            </a:pPr>
            <a:r>
              <a:rPr lang="en-US" sz="1100" b="1" dirty="0">
                <a:solidFill>
                  <a:srgbClr val="7A5A00"/>
                </a:solidFill>
                <a:latin typeface="Calibri" pitchFamily="34" charset="0"/>
                <a:ea typeface="Calibri" pitchFamily="34" charset="-122"/>
                <a:cs typeface="Calibri" pitchFamily="34" charset="-120"/>
              </a:rPr>
              <a:t>Needs: baseline, weather, plant-level data</a:t>
            </a:r>
            <a:endParaRPr lang="en-US" sz="1100" dirty="0"/>
          </a:p>
        </p:txBody>
      </p:sp>
      <p:sp>
        <p:nvSpPr>
          <p:cNvPr id="23" name="Text 21"/>
          <p:cNvSpPr txBox="1"/>
          <p:nvPr/>
        </p:nvSpPr>
        <p:spPr>
          <a:xfrm>
            <a:off x="457200" y="4370832"/>
            <a:ext cx="8229600" cy="274320"/>
          </a:xfrm>
          <a:prstGeom prst="rect">
            <a:avLst/>
          </a:prstGeom>
          <a:noFill/>
          <a:ln/>
        </p:spPr>
        <p:txBody>
          <a:bodyPr wrap="square" lIns="0" tIns="0" rIns="0" bIns="0" rtlCol="0" anchor="ctr"/>
          <a:lstStyle/>
          <a:p>
            <a:pPr marL="0" indent="0">
              <a:buNone/>
            </a:pPr>
            <a:r>
              <a:rPr lang="en-US" sz="1200" i="1" dirty="0">
                <a:solidFill>
                  <a:srgbClr val="1F4D2B"/>
                </a:solidFill>
                <a:latin typeface="Calibri" pitchFamily="34" charset="0"/>
                <a:ea typeface="Calibri" pitchFamily="34" charset="-122"/>
                <a:cs typeface="Calibri" pitchFamily="34" charset="-120"/>
              </a:rPr>
              <a:t>None of these has been implemented or tested; each needs validation with additional data.</a:t>
            </a:r>
            <a:endParaRPr lang="en-US" sz="1200" dirty="0"/>
          </a:p>
        </p:txBody>
      </p:sp>
      <p:sp>
        <p:nvSpPr>
          <p:cNvPr id="24" name="Slide Number Placeholder 23">
            <a:extLst>
              <a:ext uri="{FF2B5EF4-FFF2-40B4-BE49-F238E27FC236}">
                <a16:creationId xmlns:a16="http://schemas.microsoft.com/office/drawing/2014/main" id="{A516121A-10FE-82A4-AE81-B0E419BB05D3}"/>
              </a:ext>
            </a:extLst>
          </p:cNvPr>
          <p:cNvSpPr>
            <a:spLocks noGrp="1"/>
          </p:cNvSpPr>
          <p:nvPr>
            <p:ph type="sldNum" sz="quarter" idx="4294967295"/>
          </p:nvPr>
        </p:nvSpPr>
        <p:spPr/>
        <p:txBody>
          <a:bodyPr/>
          <a:lstStyle/>
          <a:p>
            <a:pPr algn="r"/>
            <a:fld id="{F7021451-1387-4CA6-816F-3879F97B5CBC}" type="slidenum">
              <a:rPr lang="en-US" b="0"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Limitations and future scope</a:t>
            </a:r>
            <a:endParaRPr lang="en-US" sz="2600" dirty="0"/>
          </a:p>
        </p:txBody>
      </p:sp>
      <p:sp>
        <p:nvSpPr>
          <p:cNvPr id="3" name="Limitations card"/>
          <p:cNvSpPr/>
          <p:nvPr/>
        </p:nvSpPr>
        <p:spPr>
          <a:xfrm>
            <a:off x="457200" y="1024128"/>
            <a:ext cx="4023360" cy="3200400"/>
          </a:xfrm>
          <a:prstGeom prst="rect">
            <a:avLst/>
          </a:prstGeom>
          <a:solidFill>
            <a:srgbClr val="FFFFFF"/>
          </a:solidFill>
          <a:ln w="9525">
            <a:solidFill>
              <a:srgbClr val="C9D6CC"/>
            </a:solidFill>
            <a:prstDash val="solid"/>
          </a:ln>
        </p:spPr>
      </p:sp>
      <p:sp>
        <p:nvSpPr>
          <p:cNvPr id="4" name="Limitations bar"/>
          <p:cNvSpPr/>
          <p:nvPr/>
        </p:nvSpPr>
        <p:spPr>
          <a:xfrm>
            <a:off x="457200" y="1024128"/>
            <a:ext cx="4023360" cy="54864"/>
          </a:xfrm>
          <a:prstGeom prst="rect">
            <a:avLst/>
          </a:prstGeom>
          <a:solidFill>
            <a:srgbClr val="F2B705"/>
          </a:solidFill>
          <a:ln/>
        </p:spPr>
      </p:sp>
      <p:sp>
        <p:nvSpPr>
          <p:cNvPr id="5" name="Text 3"/>
          <p:cNvSpPr txBox="1"/>
          <p:nvPr/>
        </p:nvSpPr>
        <p:spPr>
          <a:xfrm>
            <a:off x="640080" y="1188720"/>
            <a:ext cx="3657600" cy="320040"/>
          </a:xfrm>
          <a:prstGeom prst="rect">
            <a:avLst/>
          </a:prstGeom>
          <a:noFill/>
          <a:ln/>
        </p:spPr>
        <p:txBody>
          <a:bodyPr wrap="square" lIns="0" tIns="0" rIns="0" bIns="0" rtlCol="0" anchor="ctr"/>
          <a:lstStyle/>
          <a:p>
            <a:pPr marL="0" indent="0">
              <a:buNone/>
            </a:pPr>
            <a:r>
              <a:rPr lang="en-US" sz="1600" b="1" dirty="0">
                <a:solidFill>
                  <a:srgbClr val="1F4D2B"/>
                </a:solidFill>
                <a:latin typeface="Georgia" pitchFamily="34" charset="0"/>
                <a:ea typeface="Georgia" pitchFamily="34" charset="-122"/>
                <a:cs typeface="Georgia" pitchFamily="34" charset="-120"/>
              </a:rPr>
              <a:t>Limitations</a:t>
            </a:r>
            <a:endParaRPr lang="en-US" sz="1600" dirty="0"/>
          </a:p>
        </p:txBody>
      </p:sp>
      <p:sp>
        <p:nvSpPr>
          <p:cNvPr id="6" name="Text 4"/>
          <p:cNvSpPr txBox="1"/>
          <p:nvPr/>
        </p:nvSpPr>
        <p:spPr>
          <a:xfrm>
            <a:off x="640080" y="1645920"/>
            <a:ext cx="3657600" cy="24688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E2A22"/>
                </a:solidFill>
                <a:latin typeface="Calibri" pitchFamily="34" charset="0"/>
                <a:ea typeface="Calibri" pitchFamily="34" charset="-122"/>
                <a:cs typeface="Calibri" pitchFamily="34" charset="-120"/>
              </a:rPr>
              <a:t>Screenshots cover only 9 weekend days</a:t>
            </a:r>
            <a:endParaRPr lang="en-US" sz="1400" dirty="0"/>
          </a:p>
          <a:p>
            <a:pPr marL="177800" indent="-177800">
              <a:spcAft>
                <a:spcPts val="800"/>
              </a:spcAft>
              <a:buSzPct val="100000"/>
              <a:buChar char="•"/>
            </a:pPr>
            <a:r>
              <a:rPr lang="en-US" sz="1400" dirty="0">
                <a:solidFill>
                  <a:srgbClr val="1E2A22"/>
                </a:solidFill>
                <a:latin typeface="Calibri" pitchFamily="34" charset="0"/>
                <a:ea typeface="Calibri" pitchFamily="34" charset="-122"/>
                <a:cs typeface="Calibri" pitchFamily="34" charset="-120"/>
              </a:rPr>
              <a:t>National hourly totals hide regional and sub-hourly ramps</a:t>
            </a:r>
            <a:endParaRPr lang="en-US" sz="1400" dirty="0"/>
          </a:p>
          <a:p>
            <a:pPr marL="177800" indent="-177800">
              <a:spcAft>
                <a:spcPts val="800"/>
              </a:spcAft>
              <a:buSzPct val="100000"/>
              <a:buChar char="•"/>
            </a:pPr>
            <a:r>
              <a:rPr lang="en-US" sz="1400" dirty="0">
                <a:solidFill>
                  <a:srgbClr val="1E2A22"/>
                </a:solidFill>
                <a:latin typeface="Calibri" pitchFamily="34" charset="0"/>
                <a:ea typeface="Calibri" pitchFamily="34" charset="-122"/>
                <a:cs typeface="Calibri" pitchFamily="34" charset="-120"/>
              </a:rPr>
              <a:t>No weather, irradiance, capacity or plant data, so losses and efficiency cannot be measured</a:t>
            </a:r>
            <a:endParaRPr lang="en-US" sz="1400" dirty="0"/>
          </a:p>
          <a:p>
            <a:pPr marL="177800" indent="-177800">
              <a:spcAft>
                <a:spcPts val="800"/>
              </a:spcAft>
              <a:buSzPct val="100000"/>
              <a:buChar char="•"/>
            </a:pPr>
            <a:r>
              <a:rPr lang="en-US" sz="1400" dirty="0">
                <a:solidFill>
                  <a:srgbClr val="1E2A22"/>
                </a:solidFill>
                <a:latin typeface="Calibri" pitchFamily="34" charset="0"/>
                <a:ea typeface="Calibri" pitchFamily="34" charset="-122"/>
                <a:cs typeface="Calibri" pitchFamily="34" charset="-120"/>
              </a:rPr>
              <a:t>Residual demand is not a supply deficit</a:t>
            </a:r>
            <a:endParaRPr lang="en-US" sz="1400" dirty="0"/>
          </a:p>
          <a:p>
            <a:pPr marL="177800" indent="-177800">
              <a:spcAft>
                <a:spcPts val="800"/>
              </a:spcAft>
              <a:buSzPct val="100000"/>
              <a:buChar char="•"/>
            </a:pPr>
            <a:r>
              <a:rPr lang="en-US" sz="1400" dirty="0">
                <a:solidFill>
                  <a:srgbClr val="1E2A22"/>
                </a:solidFill>
                <a:latin typeface="Calibri" pitchFamily="34" charset="0"/>
                <a:ea typeface="Calibri" pitchFamily="34" charset="-122"/>
                <a:cs typeface="Calibri" pitchFamily="34" charset="-120"/>
              </a:rPr>
              <a:t>Forecast: one holdout, no benchmark</a:t>
            </a:r>
            <a:endParaRPr lang="en-US" sz="1400" dirty="0"/>
          </a:p>
        </p:txBody>
      </p:sp>
      <p:sp>
        <p:nvSpPr>
          <p:cNvPr id="7" name="Future scope card"/>
          <p:cNvSpPr/>
          <p:nvPr/>
        </p:nvSpPr>
        <p:spPr>
          <a:xfrm>
            <a:off x="4663440" y="1024128"/>
            <a:ext cx="4023360" cy="3200400"/>
          </a:xfrm>
          <a:prstGeom prst="rect">
            <a:avLst/>
          </a:prstGeom>
          <a:solidFill>
            <a:srgbClr val="FFFFFF"/>
          </a:solidFill>
          <a:ln w="9525">
            <a:solidFill>
              <a:srgbClr val="C9D6CC"/>
            </a:solidFill>
            <a:prstDash val="solid"/>
          </a:ln>
        </p:spPr>
      </p:sp>
      <p:sp>
        <p:nvSpPr>
          <p:cNvPr id="8" name="Future scope bar"/>
          <p:cNvSpPr/>
          <p:nvPr/>
        </p:nvSpPr>
        <p:spPr>
          <a:xfrm>
            <a:off x="4663440" y="1024128"/>
            <a:ext cx="4023360" cy="54864"/>
          </a:xfrm>
          <a:prstGeom prst="rect">
            <a:avLst/>
          </a:prstGeom>
          <a:solidFill>
            <a:srgbClr val="2E7D4F"/>
          </a:solidFill>
          <a:ln/>
        </p:spPr>
      </p:sp>
      <p:sp>
        <p:nvSpPr>
          <p:cNvPr id="9" name="Text 7"/>
          <p:cNvSpPr txBox="1"/>
          <p:nvPr/>
        </p:nvSpPr>
        <p:spPr>
          <a:xfrm>
            <a:off x="4846320" y="1188720"/>
            <a:ext cx="3657600" cy="320040"/>
          </a:xfrm>
          <a:prstGeom prst="rect">
            <a:avLst/>
          </a:prstGeom>
          <a:noFill/>
          <a:ln/>
        </p:spPr>
        <p:txBody>
          <a:bodyPr wrap="square" lIns="0" tIns="0" rIns="0" bIns="0" rtlCol="0" anchor="ctr"/>
          <a:lstStyle/>
          <a:p>
            <a:pPr marL="0" indent="0">
              <a:buNone/>
            </a:pPr>
            <a:r>
              <a:rPr lang="en-US" sz="1600" b="1" dirty="0">
                <a:solidFill>
                  <a:srgbClr val="1F4D2B"/>
                </a:solidFill>
                <a:latin typeface="Georgia" pitchFamily="34" charset="0"/>
                <a:ea typeface="Georgia" pitchFamily="34" charset="-122"/>
                <a:cs typeface="Georgia" pitchFamily="34" charset="-120"/>
              </a:rPr>
              <a:t>Future scope</a:t>
            </a:r>
            <a:endParaRPr lang="en-US" sz="1600" dirty="0"/>
          </a:p>
        </p:txBody>
      </p:sp>
      <p:sp>
        <p:nvSpPr>
          <p:cNvPr id="10" name="Text 8"/>
          <p:cNvSpPr txBox="1"/>
          <p:nvPr/>
        </p:nvSpPr>
        <p:spPr>
          <a:xfrm>
            <a:off x="4846320" y="1645920"/>
            <a:ext cx="3657600" cy="2468880"/>
          </a:xfrm>
          <a:prstGeom prst="rect">
            <a:avLst/>
          </a:prstGeom>
          <a:noFill/>
          <a:ln/>
        </p:spPr>
        <p:txBody>
          <a:bodyPr wrap="square" lIns="0" tIns="0" rIns="0" bIns="0" rtlCol="0" anchor="t"/>
          <a:lstStyle/>
          <a:p>
            <a:pPr marL="177800" indent="-177800">
              <a:spcAft>
                <a:spcPts val="800"/>
              </a:spcAft>
              <a:buSzPct val="100000"/>
              <a:buChar char="•"/>
            </a:pPr>
            <a:r>
              <a:rPr lang="en-US" sz="1400" dirty="0">
                <a:solidFill>
                  <a:srgbClr val="1E2A22"/>
                </a:solidFill>
                <a:latin typeface="Calibri" pitchFamily="34" charset="0"/>
                <a:ea typeface="Calibri" pitchFamily="34" charset="-122"/>
                <a:cs typeface="Calibri" pitchFamily="34" charset="-120"/>
              </a:rPr>
              <a:t>Add weather and irradiance variables</a:t>
            </a:r>
            <a:endParaRPr lang="en-US" sz="1400" dirty="0"/>
          </a:p>
          <a:p>
            <a:pPr marL="177800" indent="-177800">
              <a:spcAft>
                <a:spcPts val="800"/>
              </a:spcAft>
              <a:buSzPct val="100000"/>
              <a:buChar char="•"/>
            </a:pPr>
            <a:r>
              <a:rPr lang="en-US" sz="1400" dirty="0">
                <a:solidFill>
                  <a:srgbClr val="1E2A22"/>
                </a:solidFill>
                <a:latin typeface="Calibri" pitchFamily="34" charset="0"/>
                <a:ea typeface="Calibri" pitchFamily="34" charset="-122"/>
                <a:cs typeface="Calibri" pitchFamily="34" charset="-120"/>
              </a:rPr>
              <a:t>Use regional and plant-level data</a:t>
            </a:r>
            <a:endParaRPr lang="en-US" sz="1400" dirty="0"/>
          </a:p>
          <a:p>
            <a:pPr marL="177800" indent="-177800">
              <a:spcAft>
                <a:spcPts val="800"/>
              </a:spcAft>
              <a:buSzPct val="100000"/>
              <a:buChar char="•"/>
            </a:pPr>
            <a:r>
              <a:rPr lang="en-US" sz="1400" dirty="0">
                <a:solidFill>
                  <a:srgbClr val="1E2A22"/>
                </a:solidFill>
                <a:latin typeface="Calibri" pitchFamily="34" charset="0"/>
                <a:ea typeface="Calibri" pitchFamily="34" charset="-122"/>
                <a:cs typeface="Calibri" pitchFamily="34" charset="-120"/>
              </a:rPr>
              <a:t>Simulate battery dispatch</a:t>
            </a:r>
            <a:endParaRPr lang="en-US" sz="1400" dirty="0"/>
          </a:p>
          <a:p>
            <a:pPr marL="177800" indent="-177800">
              <a:spcAft>
                <a:spcPts val="800"/>
              </a:spcAft>
              <a:buSzPct val="100000"/>
              <a:buChar char="•"/>
            </a:pPr>
            <a:r>
              <a:rPr lang="en-US" sz="1400" dirty="0">
                <a:solidFill>
                  <a:srgbClr val="1E2A22"/>
                </a:solidFill>
                <a:latin typeface="Calibri" pitchFamily="34" charset="0"/>
                <a:ea typeface="Calibri" pitchFamily="34" charset="-122"/>
                <a:cs typeface="Calibri" pitchFamily="34" charset="-120"/>
              </a:rPr>
              <a:t>Forecast solar and wind with baselines</a:t>
            </a:r>
            <a:endParaRPr lang="en-US" sz="1400" dirty="0"/>
          </a:p>
          <a:p>
            <a:pPr marL="177800" indent="-177800">
              <a:spcAft>
                <a:spcPts val="800"/>
              </a:spcAft>
              <a:buSzPct val="100000"/>
              <a:buChar char="•"/>
            </a:pPr>
            <a:r>
              <a:rPr lang="en-US" sz="1400" dirty="0">
                <a:solidFill>
                  <a:srgbClr val="1E2A22"/>
                </a:solidFill>
                <a:latin typeface="Calibri" pitchFamily="34" charset="0"/>
                <a:ea typeface="Calibri" pitchFamily="34" charset="-122"/>
                <a:cs typeface="Calibri" pitchFamily="34" charset="-120"/>
              </a:rPr>
              <a:t>Check that Business Insights text is computed from the filtered data</a:t>
            </a:r>
            <a:endParaRPr lang="en-US" sz="1400" dirty="0"/>
          </a:p>
        </p:txBody>
      </p:sp>
      <p:sp>
        <p:nvSpPr>
          <p:cNvPr id="11" name="Slide Number Placeholder 10">
            <a:extLst>
              <a:ext uri="{FF2B5EF4-FFF2-40B4-BE49-F238E27FC236}">
                <a16:creationId xmlns:a16="http://schemas.microsoft.com/office/drawing/2014/main" id="{4674DCA3-FD29-2A7B-2A66-53733DC30167}"/>
              </a:ext>
            </a:extLst>
          </p:cNvPr>
          <p:cNvSpPr>
            <a:spLocks noGrp="1"/>
          </p:cNvSpPr>
          <p:nvPr>
            <p:ph type="sldNum" sz="quarter" idx="4294967295"/>
          </p:nvPr>
        </p:nvSpPr>
        <p:spPr/>
        <p:txBody>
          <a:bodyPr/>
          <a:lstStyle/>
          <a:p>
            <a:pPr algn="r"/>
            <a:fld id="{F7021451-1387-4CA6-816F-3879F97B5CBC}" type="slidenum">
              <a:rPr lang="en-US" b="0" smtClean="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Conclusion</a:t>
            </a:r>
            <a:endParaRPr lang="en-US" sz="2600" dirty="0"/>
          </a:p>
        </p:txBody>
      </p:sp>
      <p:sp>
        <p:nvSpPr>
          <p:cNvPr id="3" name="Label Problem"/>
          <p:cNvSpPr/>
          <p:nvPr/>
        </p:nvSpPr>
        <p:spPr>
          <a:xfrm>
            <a:off x="457200" y="1051560"/>
            <a:ext cx="1554480" cy="475488"/>
          </a:xfrm>
          <a:prstGeom prst="rect">
            <a:avLst/>
          </a:prstGeom>
          <a:solidFill>
            <a:srgbClr val="1F4D2B"/>
          </a:solidFill>
          <a:ln/>
        </p:spPr>
      </p:sp>
      <p:sp>
        <p:nvSpPr>
          <p:cNvPr id="4" name="Text 2"/>
          <p:cNvSpPr txBox="1"/>
          <p:nvPr/>
        </p:nvSpPr>
        <p:spPr>
          <a:xfrm>
            <a:off x="457200" y="1051560"/>
            <a:ext cx="155448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Problem</a:t>
            </a:r>
            <a:endParaRPr lang="en-US" sz="1300" dirty="0"/>
          </a:p>
        </p:txBody>
      </p:sp>
      <p:sp>
        <p:nvSpPr>
          <p:cNvPr id="5" name="Text Problem"/>
          <p:cNvSpPr/>
          <p:nvPr/>
        </p:nvSpPr>
        <p:spPr>
          <a:xfrm>
            <a:off x="2011680" y="1051560"/>
            <a:ext cx="6675120" cy="475488"/>
          </a:xfrm>
          <a:prstGeom prst="rect">
            <a:avLst/>
          </a:prstGeom>
          <a:solidFill>
            <a:srgbClr val="FFFFFF"/>
          </a:solidFill>
          <a:ln w="9525">
            <a:solidFill>
              <a:srgbClr val="C9D6CC"/>
            </a:solidFill>
            <a:prstDash val="solid"/>
          </a:ln>
        </p:spPr>
      </p:sp>
      <p:sp>
        <p:nvSpPr>
          <p:cNvPr id="6" name="Text 4"/>
          <p:cNvSpPr txBox="1"/>
          <p:nvPr/>
        </p:nvSpPr>
        <p:spPr>
          <a:xfrm>
            <a:off x="2148840" y="1051560"/>
            <a:ext cx="6446520" cy="475488"/>
          </a:xfrm>
          <a:prstGeom prst="rect">
            <a:avLst/>
          </a:prstGeom>
          <a:noFill/>
          <a:ln/>
        </p:spPr>
        <p:txBody>
          <a:bodyPr wrap="square" lIns="0" tIns="0" rIns="0" bIns="0" rtlCol="0" anchor="ctr"/>
          <a:lstStyle/>
          <a:p>
            <a:pPr marL="0" indent="0">
              <a:buNone/>
            </a:pPr>
            <a:r>
              <a:rPr lang="en-US" sz="1300" dirty="0">
                <a:solidFill>
                  <a:srgbClr val="1E2A22"/>
                </a:solidFill>
                <a:latin typeface="Calibri" pitchFamily="34" charset="0"/>
                <a:ea typeface="Calibri" pitchFamily="34" charset="-122"/>
                <a:cs typeface="Calibri" pitchFamily="34" charset="-120"/>
              </a:rPr>
              <a:t>Solar and wind vary; planners need to see them against demand</a:t>
            </a:r>
            <a:endParaRPr lang="en-US" sz="1300" dirty="0"/>
          </a:p>
        </p:txBody>
      </p:sp>
      <p:sp>
        <p:nvSpPr>
          <p:cNvPr id="7" name="Label Solution"/>
          <p:cNvSpPr/>
          <p:nvPr/>
        </p:nvSpPr>
        <p:spPr>
          <a:xfrm>
            <a:off x="457200" y="1618488"/>
            <a:ext cx="1554480" cy="475488"/>
          </a:xfrm>
          <a:prstGeom prst="rect">
            <a:avLst/>
          </a:prstGeom>
          <a:solidFill>
            <a:srgbClr val="2E7D4F"/>
          </a:solidFill>
          <a:ln/>
        </p:spPr>
      </p:sp>
      <p:sp>
        <p:nvSpPr>
          <p:cNvPr id="8" name="Text 6"/>
          <p:cNvSpPr txBox="1"/>
          <p:nvPr/>
        </p:nvSpPr>
        <p:spPr>
          <a:xfrm>
            <a:off x="457200" y="1618488"/>
            <a:ext cx="155448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Solution</a:t>
            </a:r>
            <a:endParaRPr lang="en-US" sz="1300" dirty="0"/>
          </a:p>
        </p:txBody>
      </p:sp>
      <p:sp>
        <p:nvSpPr>
          <p:cNvPr id="9" name="Text Solution"/>
          <p:cNvSpPr/>
          <p:nvPr/>
        </p:nvSpPr>
        <p:spPr>
          <a:xfrm>
            <a:off x="2011680" y="1618488"/>
            <a:ext cx="6675120" cy="475488"/>
          </a:xfrm>
          <a:prstGeom prst="rect">
            <a:avLst/>
          </a:prstGeom>
          <a:solidFill>
            <a:srgbClr val="FFFFFF"/>
          </a:solidFill>
          <a:ln w="9525">
            <a:solidFill>
              <a:srgbClr val="C9D6CC"/>
            </a:solidFill>
            <a:prstDash val="solid"/>
          </a:ln>
        </p:spPr>
      </p:sp>
      <p:sp>
        <p:nvSpPr>
          <p:cNvPr id="10" name="Text 8"/>
          <p:cNvSpPr txBox="1"/>
          <p:nvPr/>
        </p:nvSpPr>
        <p:spPr>
          <a:xfrm>
            <a:off x="2148840" y="1618488"/>
            <a:ext cx="6446520" cy="475488"/>
          </a:xfrm>
          <a:prstGeom prst="rect">
            <a:avLst/>
          </a:prstGeom>
          <a:noFill/>
          <a:ln/>
        </p:spPr>
        <p:txBody>
          <a:bodyPr wrap="square" lIns="0" tIns="0" rIns="0" bIns="0" rtlCol="0" anchor="ctr"/>
          <a:lstStyle/>
          <a:p>
            <a:pPr marL="0" indent="0">
              <a:buNone/>
            </a:pPr>
            <a:r>
              <a:rPr lang="en-US" sz="1300" dirty="0">
                <a:solidFill>
                  <a:srgbClr val="1E2A22"/>
                </a:solidFill>
                <a:latin typeface="Calibri" pitchFamily="34" charset="0"/>
                <a:ea typeface="Calibri" pitchFamily="34" charset="-122"/>
                <a:cs typeface="Calibri" pitchFamily="34" charset="-120"/>
              </a:rPr>
              <a:t>An interactive R Shiny dashboard on hourly Grid-India data</a:t>
            </a:r>
            <a:endParaRPr lang="en-US" sz="1300" dirty="0"/>
          </a:p>
        </p:txBody>
      </p:sp>
      <p:sp>
        <p:nvSpPr>
          <p:cNvPr id="11" name="Label Findings"/>
          <p:cNvSpPr/>
          <p:nvPr/>
        </p:nvSpPr>
        <p:spPr>
          <a:xfrm>
            <a:off x="457200" y="2185416"/>
            <a:ext cx="1554480" cy="475488"/>
          </a:xfrm>
          <a:prstGeom prst="rect">
            <a:avLst/>
          </a:prstGeom>
          <a:solidFill>
            <a:srgbClr val="1F4D2B"/>
          </a:solidFill>
          <a:ln/>
        </p:spPr>
      </p:sp>
      <p:sp>
        <p:nvSpPr>
          <p:cNvPr id="12" name="Text 10"/>
          <p:cNvSpPr txBox="1"/>
          <p:nvPr/>
        </p:nvSpPr>
        <p:spPr>
          <a:xfrm>
            <a:off x="457200" y="2185416"/>
            <a:ext cx="155448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Findings</a:t>
            </a:r>
            <a:endParaRPr lang="en-US" sz="1300" dirty="0"/>
          </a:p>
        </p:txBody>
      </p:sp>
      <p:sp>
        <p:nvSpPr>
          <p:cNvPr id="13" name="Text Findings"/>
          <p:cNvSpPr/>
          <p:nvPr/>
        </p:nvSpPr>
        <p:spPr>
          <a:xfrm>
            <a:off x="2011680" y="2185416"/>
            <a:ext cx="6675120" cy="475488"/>
          </a:xfrm>
          <a:prstGeom prst="rect">
            <a:avLst/>
          </a:prstGeom>
          <a:solidFill>
            <a:srgbClr val="FFFFFF"/>
          </a:solidFill>
          <a:ln w="9525">
            <a:solidFill>
              <a:srgbClr val="C9D6CC"/>
            </a:solidFill>
            <a:prstDash val="solid"/>
          </a:ln>
        </p:spPr>
      </p:sp>
      <p:sp>
        <p:nvSpPr>
          <p:cNvPr id="14" name="Text 12"/>
          <p:cNvSpPr txBox="1"/>
          <p:nvPr/>
        </p:nvSpPr>
        <p:spPr>
          <a:xfrm>
            <a:off x="2148840" y="2185416"/>
            <a:ext cx="6446520" cy="475488"/>
          </a:xfrm>
          <a:prstGeom prst="rect">
            <a:avLst/>
          </a:prstGeom>
          <a:noFill/>
          <a:ln/>
        </p:spPr>
        <p:txBody>
          <a:bodyPr wrap="square" lIns="0" tIns="0" rIns="0" bIns="0" rtlCol="0" anchor="ctr"/>
          <a:lstStyle/>
          <a:p>
            <a:pPr marL="0" indent="0">
              <a:buNone/>
            </a:pPr>
            <a:r>
              <a:rPr lang="en-US" sz="1300" dirty="0">
                <a:solidFill>
                  <a:srgbClr val="1E2A22"/>
                </a:solidFill>
                <a:latin typeface="Calibri" pitchFamily="34" charset="0"/>
                <a:ea typeface="Calibri" pitchFamily="34" charset="-122"/>
                <a:cs typeface="Calibri" pitchFamily="34" charset="-120"/>
              </a:rPr>
              <a:t>17.65% renewable share; peak solar 61.71 GW; ramps up to +29.11 GW/h</a:t>
            </a:r>
            <a:endParaRPr lang="en-US" sz="1300" dirty="0"/>
          </a:p>
        </p:txBody>
      </p:sp>
      <p:sp>
        <p:nvSpPr>
          <p:cNvPr id="15" name="Label Value"/>
          <p:cNvSpPr/>
          <p:nvPr/>
        </p:nvSpPr>
        <p:spPr>
          <a:xfrm>
            <a:off x="457200" y="2752344"/>
            <a:ext cx="1554480" cy="475488"/>
          </a:xfrm>
          <a:prstGeom prst="rect">
            <a:avLst/>
          </a:prstGeom>
          <a:solidFill>
            <a:srgbClr val="2E7D4F"/>
          </a:solidFill>
          <a:ln/>
        </p:spPr>
      </p:sp>
      <p:sp>
        <p:nvSpPr>
          <p:cNvPr id="16" name="Text 14"/>
          <p:cNvSpPr txBox="1"/>
          <p:nvPr/>
        </p:nvSpPr>
        <p:spPr>
          <a:xfrm>
            <a:off x="457200" y="2752344"/>
            <a:ext cx="155448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Value</a:t>
            </a:r>
            <a:endParaRPr lang="en-US" sz="1300" dirty="0"/>
          </a:p>
        </p:txBody>
      </p:sp>
      <p:sp>
        <p:nvSpPr>
          <p:cNvPr id="17" name="Text Value"/>
          <p:cNvSpPr/>
          <p:nvPr/>
        </p:nvSpPr>
        <p:spPr>
          <a:xfrm>
            <a:off x="2011680" y="2752344"/>
            <a:ext cx="6675120" cy="475488"/>
          </a:xfrm>
          <a:prstGeom prst="rect">
            <a:avLst/>
          </a:prstGeom>
          <a:solidFill>
            <a:srgbClr val="FFFFFF"/>
          </a:solidFill>
          <a:ln w="9525">
            <a:solidFill>
              <a:srgbClr val="C9D6CC"/>
            </a:solidFill>
            <a:prstDash val="solid"/>
          </a:ln>
        </p:spPr>
      </p:sp>
      <p:sp>
        <p:nvSpPr>
          <p:cNvPr id="18" name="Text 16"/>
          <p:cNvSpPr txBox="1"/>
          <p:nvPr/>
        </p:nvSpPr>
        <p:spPr>
          <a:xfrm>
            <a:off x="2148840" y="2752344"/>
            <a:ext cx="6446520" cy="475488"/>
          </a:xfrm>
          <a:prstGeom prst="rect">
            <a:avLst/>
          </a:prstGeom>
          <a:noFill/>
          <a:ln/>
        </p:spPr>
        <p:txBody>
          <a:bodyPr wrap="square" lIns="0" tIns="0" rIns="0" bIns="0" rtlCol="0" anchor="ctr"/>
          <a:lstStyle/>
          <a:p>
            <a:pPr marL="0" indent="0">
              <a:buNone/>
            </a:pPr>
            <a:r>
              <a:rPr lang="en-US" sz="1300" dirty="0">
                <a:solidFill>
                  <a:srgbClr val="1E2A22"/>
                </a:solidFill>
                <a:latin typeface="Calibri" pitchFamily="34" charset="0"/>
                <a:ea typeface="Calibri" pitchFamily="34" charset="-122"/>
                <a:cs typeface="Calibri" pitchFamily="34" charset="-120"/>
              </a:rPr>
              <a:t>Shared filters link KPIs, distributions, a forecast and raw data</a:t>
            </a:r>
            <a:endParaRPr lang="en-US" sz="1300" dirty="0"/>
          </a:p>
        </p:txBody>
      </p:sp>
      <p:sp>
        <p:nvSpPr>
          <p:cNvPr id="19" name="Label Contribution"/>
          <p:cNvSpPr/>
          <p:nvPr/>
        </p:nvSpPr>
        <p:spPr>
          <a:xfrm>
            <a:off x="457200" y="3319272"/>
            <a:ext cx="1554480" cy="475488"/>
          </a:xfrm>
          <a:prstGeom prst="rect">
            <a:avLst/>
          </a:prstGeom>
          <a:solidFill>
            <a:srgbClr val="1F4D2B"/>
          </a:solidFill>
          <a:ln/>
        </p:spPr>
      </p:sp>
      <p:sp>
        <p:nvSpPr>
          <p:cNvPr id="20" name="Text 18"/>
          <p:cNvSpPr txBox="1"/>
          <p:nvPr/>
        </p:nvSpPr>
        <p:spPr>
          <a:xfrm>
            <a:off x="457200" y="3319272"/>
            <a:ext cx="1554480" cy="475488"/>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Contribution</a:t>
            </a:r>
            <a:endParaRPr lang="en-US" sz="1300" dirty="0"/>
          </a:p>
        </p:txBody>
      </p:sp>
      <p:sp>
        <p:nvSpPr>
          <p:cNvPr id="21" name="Text Contribution"/>
          <p:cNvSpPr/>
          <p:nvPr/>
        </p:nvSpPr>
        <p:spPr>
          <a:xfrm>
            <a:off x="2011680" y="3319272"/>
            <a:ext cx="6675120" cy="475488"/>
          </a:xfrm>
          <a:prstGeom prst="rect">
            <a:avLst/>
          </a:prstGeom>
          <a:solidFill>
            <a:srgbClr val="FFFFFF"/>
          </a:solidFill>
          <a:ln w="9525">
            <a:solidFill>
              <a:srgbClr val="C9D6CC"/>
            </a:solidFill>
            <a:prstDash val="solid"/>
          </a:ln>
        </p:spPr>
      </p:sp>
      <p:sp>
        <p:nvSpPr>
          <p:cNvPr id="22" name="Text 20"/>
          <p:cNvSpPr txBox="1"/>
          <p:nvPr/>
        </p:nvSpPr>
        <p:spPr>
          <a:xfrm>
            <a:off x="2148840" y="3319272"/>
            <a:ext cx="6446520" cy="475488"/>
          </a:xfrm>
          <a:prstGeom prst="rect">
            <a:avLst/>
          </a:prstGeom>
          <a:noFill/>
          <a:ln/>
        </p:spPr>
        <p:txBody>
          <a:bodyPr wrap="square" lIns="0" tIns="0" rIns="0" bIns="0" rtlCol="0" anchor="ctr"/>
          <a:lstStyle/>
          <a:p>
            <a:pPr marL="0" indent="0">
              <a:buNone/>
            </a:pPr>
            <a:r>
              <a:rPr lang="en-US" sz="1300" dirty="0">
                <a:solidFill>
                  <a:srgbClr val="1E2A22"/>
                </a:solidFill>
                <a:latin typeface="Calibri" pitchFamily="34" charset="0"/>
                <a:ea typeface="Calibri" pitchFamily="34" charset="-122"/>
                <a:cs typeface="Calibri" pitchFamily="34" charset="-120"/>
              </a:rPr>
              <a:t>A transparent view of residual demand that avoids calling it a deficit</a:t>
            </a:r>
            <a:endParaRPr lang="en-US" sz="1300" dirty="0"/>
          </a:p>
        </p:txBody>
      </p:sp>
      <p:sp>
        <p:nvSpPr>
          <p:cNvPr id="23" name="Closing band"/>
          <p:cNvSpPr/>
          <p:nvPr/>
        </p:nvSpPr>
        <p:spPr>
          <a:xfrm>
            <a:off x="457200" y="3931920"/>
            <a:ext cx="8229600" cy="685800"/>
          </a:xfrm>
          <a:prstGeom prst="rect">
            <a:avLst/>
          </a:prstGeom>
          <a:solidFill>
            <a:srgbClr val="1F4D2B"/>
          </a:solidFill>
          <a:ln/>
        </p:spPr>
      </p:sp>
      <p:sp>
        <p:nvSpPr>
          <p:cNvPr id="24" name="Text 22"/>
          <p:cNvSpPr txBox="1"/>
          <p:nvPr/>
        </p:nvSpPr>
        <p:spPr>
          <a:xfrm>
            <a:off x="640080" y="3931920"/>
            <a:ext cx="7863840" cy="685800"/>
          </a:xfrm>
          <a:prstGeom prst="rect">
            <a:avLst/>
          </a:prstGeom>
          <a:noFill/>
          <a:ln/>
        </p:spPr>
        <p:txBody>
          <a:bodyPr wrap="square" lIns="0" tIns="0" rIns="0" bIns="0" rtlCol="0" anchor="ctr"/>
          <a:lstStyle/>
          <a:p>
            <a:pPr marL="0" indent="0">
              <a:buNone/>
            </a:pPr>
            <a:r>
              <a:rPr lang="en-US" sz="1500" b="1" dirty="0">
                <a:solidFill>
                  <a:srgbClr val="FFFFFF"/>
                </a:solidFill>
                <a:latin typeface="Georgia" pitchFamily="34" charset="0"/>
                <a:ea typeface="Georgia" pitchFamily="34" charset="-122"/>
                <a:cs typeface="Georgia" pitchFamily="34" charset="-120"/>
              </a:rPr>
              <a:t>Descriptive evidence that shows planners where to look next: evening ramps, storage and better forecasting.</a:t>
            </a:r>
            <a:endParaRPr lang="en-US" sz="1500" dirty="0"/>
          </a:p>
        </p:txBody>
      </p:sp>
      <p:sp>
        <p:nvSpPr>
          <p:cNvPr id="27" name="Slide Number Placeholder 26">
            <a:extLst>
              <a:ext uri="{FF2B5EF4-FFF2-40B4-BE49-F238E27FC236}">
                <a16:creationId xmlns:a16="http://schemas.microsoft.com/office/drawing/2014/main" id="{0132B6AC-C0F4-EA24-71B2-CC9B6ADBEBEC}"/>
              </a:ext>
            </a:extLst>
          </p:cNvPr>
          <p:cNvSpPr>
            <a:spLocks noGrp="1"/>
          </p:cNvSpPr>
          <p:nvPr>
            <p:ph type="sldNum" sz="quarter" idx="4294967295"/>
          </p:nvPr>
        </p:nvSpPr>
        <p:spPr/>
        <p:txBody>
          <a:bodyPr/>
          <a:lstStyle/>
          <a:p>
            <a:pPr algn="r"/>
            <a:fld id="{F7021451-1387-4CA6-816F-3879F97B5CBC}" type="slidenum">
              <a:rPr lang="en-US" b="0"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457200" y="256032"/>
            <a:ext cx="8229600" cy="594360"/>
          </a:xfrm>
          <a:prstGeom prst="rect">
            <a:avLst/>
          </a:prstGeom>
          <a:noFill/>
          <a:ln/>
        </p:spPr>
        <p:txBody>
          <a:bodyPr wrap="square" lIns="0" tIns="0" rIns="0" bIns="0" rtlCol="0" anchor="ctr"/>
          <a:lstStyle/>
          <a:p>
            <a:pPr marL="0" indent="0" algn="l">
              <a:buNone/>
            </a:pPr>
            <a:r>
              <a:rPr lang="en-US" sz="2600" b="1" dirty="0">
                <a:solidFill>
                  <a:srgbClr val="1F4D2B"/>
                </a:solidFill>
                <a:latin typeface="Georgia" pitchFamily="34" charset="0"/>
                <a:ea typeface="Georgia" pitchFamily="34" charset="-122"/>
                <a:cs typeface="Georgia" pitchFamily="34" charset="-120"/>
              </a:rPr>
              <a:t>References</a:t>
            </a:r>
            <a:endParaRPr lang="en-US" sz="2600" dirty="0"/>
          </a:p>
        </p:txBody>
      </p:sp>
      <p:sp>
        <p:nvSpPr>
          <p:cNvPr id="3" name="Text 1"/>
          <p:cNvSpPr txBox="1"/>
          <p:nvPr/>
        </p:nvSpPr>
        <p:spPr>
          <a:xfrm>
            <a:off x="457200" y="1005840"/>
            <a:ext cx="5394960" cy="3566160"/>
          </a:xfrm>
          <a:prstGeom prst="rect">
            <a:avLst/>
          </a:prstGeom>
          <a:noFill/>
          <a:ln/>
        </p:spPr>
        <p:txBody>
          <a:bodyPr wrap="square" lIns="0" tIns="0" rIns="0" bIns="0" rtlCol="0" anchor="t"/>
          <a:lstStyle/>
          <a:p>
            <a:pPr marL="0" indent="0">
              <a:spcAft>
                <a:spcPts val="500"/>
              </a:spcAft>
              <a:buNone/>
            </a:pPr>
            <a:r>
              <a:rPr lang="en-US" sz="1000" dirty="0">
                <a:solidFill>
                  <a:srgbClr val="1E2A22"/>
                </a:solidFill>
                <a:latin typeface="Calibri" pitchFamily="34" charset="0"/>
                <a:ea typeface="Calibri" pitchFamily="34" charset="-122"/>
                <a:cs typeface="Calibri" pitchFamily="34" charset="-120"/>
              </a:rPr>
              <a:t>Mukherjee, D., Kalita, K., &amp; Kumar, S. (2025). Electricity demand, solar and wind generation data (September 2021–June 2025) of India at 1-hour interval (Version 2) [Data set]. Mendeley Data. https://doi.org/10.17632/y58jknpgs8.2</a:t>
            </a:r>
            <a:endParaRPr lang="en-US" sz="1000" dirty="0"/>
          </a:p>
          <a:p>
            <a:pPr marL="0" indent="0">
              <a:spcAft>
                <a:spcPts val="500"/>
              </a:spcAft>
              <a:buNone/>
            </a:pPr>
            <a:r>
              <a:rPr lang="en-US" sz="1000" dirty="0">
                <a:solidFill>
                  <a:srgbClr val="1E2A22"/>
                </a:solidFill>
                <a:latin typeface="Calibri" pitchFamily="34" charset="0"/>
                <a:ea typeface="Calibri" pitchFamily="34" charset="-122"/>
                <a:cs typeface="Calibri" pitchFamily="34" charset="-120"/>
              </a:rPr>
              <a:t>Posit Software, PBC. (n.d.). Shiny: Web application framework for R. https://shiny.posit.co/</a:t>
            </a:r>
            <a:endParaRPr lang="en-US" sz="1000" dirty="0"/>
          </a:p>
          <a:p>
            <a:pPr marL="0" indent="0">
              <a:spcAft>
                <a:spcPts val="500"/>
              </a:spcAft>
              <a:buNone/>
            </a:pPr>
            <a:r>
              <a:rPr lang="en-US" sz="1000" dirty="0">
                <a:solidFill>
                  <a:srgbClr val="1E2A22"/>
                </a:solidFill>
                <a:latin typeface="Calibri" pitchFamily="34" charset="0"/>
                <a:ea typeface="Calibri" pitchFamily="34" charset="-122"/>
                <a:cs typeface="Calibri" pitchFamily="34" charset="-120"/>
              </a:rPr>
              <a:t>R Core Team. (n.d.). R: A language and environment for statistical computing. https://www.R-project.org/</a:t>
            </a:r>
            <a:endParaRPr lang="en-US" sz="1000" dirty="0"/>
          </a:p>
          <a:p>
            <a:pPr marL="0" indent="0">
              <a:spcAft>
                <a:spcPts val="500"/>
              </a:spcAft>
              <a:buNone/>
            </a:pPr>
            <a:r>
              <a:rPr lang="en-US" sz="1000" dirty="0">
                <a:solidFill>
                  <a:srgbClr val="1E2A22"/>
                </a:solidFill>
                <a:latin typeface="Calibri" pitchFamily="34" charset="0"/>
                <a:ea typeface="Calibri" pitchFamily="34" charset="-122"/>
                <a:cs typeface="Calibri" pitchFamily="34" charset="-120"/>
              </a:rPr>
              <a:t>Sievert, C., Cheng, J., &amp; Aden-Buie, G. (n.d.). bslib [R package]. https://doi.org/10.32614/CRAN.package.bslib</a:t>
            </a:r>
            <a:endParaRPr lang="en-US" sz="1000" dirty="0"/>
          </a:p>
          <a:p>
            <a:pPr marL="0" indent="0">
              <a:spcAft>
                <a:spcPts val="500"/>
              </a:spcAft>
              <a:buNone/>
            </a:pPr>
            <a:r>
              <a:rPr lang="en-US" sz="1000" dirty="0">
                <a:solidFill>
                  <a:srgbClr val="1E2A22"/>
                </a:solidFill>
                <a:latin typeface="Calibri" pitchFamily="34" charset="0"/>
                <a:ea typeface="Calibri" pitchFamily="34" charset="-122"/>
                <a:cs typeface="Calibri" pitchFamily="34" charset="-120"/>
              </a:rPr>
              <a:t>Sievert, C., Parmer, C., Hocking, T., et al. (n.d.). plotly [R package]. https://doi.org/10.32614/CRAN.package.plotly</a:t>
            </a:r>
            <a:endParaRPr lang="en-US" sz="1000" dirty="0"/>
          </a:p>
          <a:p>
            <a:pPr marL="0" indent="0">
              <a:spcAft>
                <a:spcPts val="500"/>
              </a:spcAft>
              <a:buNone/>
            </a:pPr>
            <a:r>
              <a:rPr lang="en-US" sz="1000" dirty="0">
                <a:solidFill>
                  <a:srgbClr val="1E2A22"/>
                </a:solidFill>
                <a:latin typeface="Calibri" pitchFamily="34" charset="0"/>
                <a:ea typeface="Calibri" pitchFamily="34" charset="-122"/>
                <a:cs typeface="Calibri" pitchFamily="34" charset="-120"/>
              </a:rPr>
              <a:t>Xie, Y., Cheng, J., Tan, X., &amp; Aden-Buie, G. (n.d.). DT [R package]. https://doi.org/10.32614/CRAN.package.DT</a:t>
            </a:r>
            <a:endParaRPr lang="en-US" sz="1000" dirty="0"/>
          </a:p>
        </p:txBody>
      </p:sp>
      <p:sp>
        <p:nvSpPr>
          <p:cNvPr id="4" name="Thank-you panel"/>
          <p:cNvSpPr/>
          <p:nvPr/>
        </p:nvSpPr>
        <p:spPr>
          <a:xfrm>
            <a:off x="6126480" y="1005840"/>
            <a:ext cx="2560320" cy="3566160"/>
          </a:xfrm>
          <a:prstGeom prst="rect">
            <a:avLst/>
          </a:prstGeom>
          <a:solidFill>
            <a:srgbClr val="1F4D2B"/>
          </a:solidFill>
          <a:ln/>
        </p:spPr>
      </p:sp>
      <p:sp>
        <p:nvSpPr>
          <p:cNvPr id="5" name="Sun accent"/>
          <p:cNvSpPr/>
          <p:nvPr/>
        </p:nvSpPr>
        <p:spPr>
          <a:xfrm>
            <a:off x="6995160" y="1371600"/>
            <a:ext cx="822960" cy="822960"/>
          </a:xfrm>
          <a:prstGeom prst="ellipse">
            <a:avLst/>
          </a:prstGeom>
          <a:solidFill>
            <a:srgbClr val="F2B705"/>
          </a:solidFill>
          <a:ln/>
        </p:spPr>
      </p:sp>
      <p:sp>
        <p:nvSpPr>
          <p:cNvPr id="6" name="Text 4"/>
          <p:cNvSpPr txBox="1"/>
          <p:nvPr/>
        </p:nvSpPr>
        <p:spPr>
          <a:xfrm>
            <a:off x="6126480" y="2468880"/>
            <a:ext cx="2560320" cy="502920"/>
          </a:xfrm>
          <a:prstGeom prst="rect">
            <a:avLst/>
          </a:prstGeom>
          <a:noFill/>
          <a:ln/>
        </p:spPr>
        <p:txBody>
          <a:bodyPr wrap="square" lIns="0" tIns="0" rIns="0" bIns="0" rtlCol="0" anchor="ctr"/>
          <a:lstStyle/>
          <a:p>
            <a:pPr marL="0" indent="0" algn="ctr">
              <a:buNone/>
            </a:pPr>
            <a:r>
              <a:rPr lang="en-US" sz="2600" b="1" dirty="0">
                <a:solidFill>
                  <a:srgbClr val="FFFFFF"/>
                </a:solidFill>
                <a:latin typeface="Georgia" pitchFamily="34" charset="0"/>
                <a:ea typeface="Georgia" pitchFamily="34" charset="-122"/>
                <a:cs typeface="Georgia" pitchFamily="34" charset="-120"/>
              </a:rPr>
              <a:t>Thank You</a:t>
            </a:r>
            <a:endParaRPr lang="en-US" sz="2600" dirty="0"/>
          </a:p>
        </p:txBody>
      </p:sp>
      <p:sp>
        <p:nvSpPr>
          <p:cNvPr id="7" name="Text 5"/>
          <p:cNvSpPr txBox="1"/>
          <p:nvPr/>
        </p:nvSpPr>
        <p:spPr>
          <a:xfrm>
            <a:off x="6126480" y="3017520"/>
            <a:ext cx="2560320" cy="365760"/>
          </a:xfrm>
          <a:prstGeom prst="rect">
            <a:avLst/>
          </a:prstGeom>
          <a:noFill/>
          <a:ln/>
        </p:spPr>
        <p:txBody>
          <a:bodyPr wrap="square" lIns="0" tIns="0" rIns="0" bIns="0" rtlCol="0" anchor="ctr"/>
          <a:lstStyle/>
          <a:p>
            <a:pPr marL="0" indent="0" algn="ctr">
              <a:buNone/>
            </a:pPr>
            <a:r>
              <a:rPr lang="en-US" sz="1800" dirty="0">
                <a:solidFill>
                  <a:srgbClr val="F2B705"/>
                </a:solidFill>
                <a:latin typeface="Calibri" pitchFamily="34" charset="0"/>
                <a:ea typeface="Calibri" pitchFamily="34" charset="-122"/>
                <a:cs typeface="Calibri" pitchFamily="34" charset="-120"/>
              </a:rPr>
              <a:t>Questions?</a:t>
            </a:r>
            <a:endParaRPr lang="en-US" sz="1800" dirty="0"/>
          </a:p>
        </p:txBody>
      </p:sp>
      <p:sp>
        <p:nvSpPr>
          <p:cNvPr id="14" name="Slide Number Placeholder 13">
            <a:extLst>
              <a:ext uri="{FF2B5EF4-FFF2-40B4-BE49-F238E27FC236}">
                <a16:creationId xmlns:a16="http://schemas.microsoft.com/office/drawing/2014/main" id="{0F2F629A-491B-9320-5FDB-77FC714CBA0C}"/>
              </a:ext>
            </a:extLst>
          </p:cNvPr>
          <p:cNvSpPr>
            <a:spLocks noGrp="1"/>
          </p:cNvSpPr>
          <p:nvPr>
            <p:ph type="sldNum" sz="quarter" idx="4294967295"/>
          </p:nvPr>
        </p:nvSpPr>
        <p:spPr/>
        <p:txBody>
          <a:bodyPr/>
          <a:lstStyle/>
          <a:p>
            <a:pPr algn="r"/>
            <a:fld id="{F7021451-1387-4CA6-816F-3879F97B5CBC}" type="slidenum">
              <a:rPr lang="en-US" b="0" smtClean="0"/>
              <a:t>12</a:t>
            </a:fld>
            <a:endParaRPr lang="en-US"/>
          </a:p>
        </p:txBody>
      </p:sp>
    </p:spTree>
  </p:cSld>
  <p:clrMapOvr>
    <a:masterClrMapping/>
  </p:clrMapOvr>
</p:sld>
</file>

<file path=ppt/theme/theme1.xml><?xml version="1.0" encoding="utf-8"?>
<a:theme xmlns:a="http://schemas.openxmlformats.org/drawingml/2006/main" name="Renewable Green">
  <a:themeElements>
    <a:clrScheme name="Renewable Green">
      <a:dk1>
        <a:srgbClr val="1E2A22"/>
      </a:dk1>
      <a:lt1>
        <a:srgbClr val="FFFFFF"/>
      </a:lt1>
      <a:dk2>
        <a:srgbClr val="1F4D2B"/>
      </a:dk2>
      <a:lt2>
        <a:srgbClr val="F6F8F3"/>
      </a:lt2>
      <a:accent1>
        <a:srgbClr val="1F4D2B"/>
      </a:accent1>
      <a:accent2>
        <a:srgbClr val="F2B705"/>
      </a:accent2>
      <a:accent3>
        <a:srgbClr val="2E7D4F"/>
      </a:accent3>
      <a:accent4>
        <a:srgbClr val="3B82A6"/>
      </a:accent4>
      <a:accent5>
        <a:srgbClr val="8FBF9F"/>
      </a:accent5>
      <a:accent6>
        <a:srgbClr val="5B6B60"/>
      </a:accent6>
      <a:hlink>
        <a:srgbClr val="2E7D4F"/>
      </a:hlink>
      <a:folHlink>
        <a:srgbClr val="5B6B60"/>
      </a:folHlink>
    </a:clrScheme>
    <a:fontScheme name="Renewable Green">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TotalTime>
  <Words>2958</Words>
  <Application>Microsoft Office PowerPoint</Application>
  <PresentationFormat>On-screen Show (16:9)</PresentationFormat>
  <Paragraphs>227</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Georgia</vt:lpstr>
      <vt:lpstr>Renewable Green</vt:lpstr>
      <vt:lpstr>PowerPoint Presentation</vt:lpstr>
      <vt:lpstr>Why analyse generation with demand?</vt:lpstr>
      <vt:lpstr>Objectives and scope</vt:lpstr>
      <vt:lpstr>Dataset and data preparation</vt:lpstr>
      <vt:lpstr>Technology stack and methodology</vt:lpstr>
      <vt:lpstr>Dashboard overview</vt:lpstr>
      <vt:lpstr>Solar and wind through the day and season</vt:lpstr>
      <vt:lpstr>Key findings (descriptive)</vt:lpstr>
      <vt:lpstr>Recommendations (proposals only)</vt:lpstr>
      <vt:lpstr>Limitations and future scope</vt:lpstr>
      <vt:lpstr>Conclusion</vt:lpstr>
      <vt:lpstr>References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Renewable Energy Intelligence: CA3 Case Study Presentation</dc:title>
  <dc:subject>PptxGenJS Presentation</dc:subject>
  <dc:creator>Ishika Ishwar Geed</dc:creator>
  <cp:lastModifiedBy>Ishika Geed</cp:lastModifiedBy>
  <cp:revision>3</cp:revision>
  <dcterms:created xsi:type="dcterms:W3CDTF">2026-10-12T02:35:06Z</dcterms:created>
  <dcterms:modified xsi:type="dcterms:W3CDTF">2026-10-12T05:27:48Z</dcterms:modified>
</cp:coreProperties>
</file>